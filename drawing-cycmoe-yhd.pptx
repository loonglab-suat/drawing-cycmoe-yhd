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2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4" Type="http://schemas.openxmlformats.org/officeDocument/2006/relationships/slideLayout" Target="../slideLayouts/slideLayout2.xml"/><Relationship Id="rId63" Type="http://schemas.openxmlformats.org/officeDocument/2006/relationships/tags" Target="../tags/tag119.xml"/><Relationship Id="rId62" Type="http://schemas.openxmlformats.org/officeDocument/2006/relationships/tags" Target="../tags/tag118.xml"/><Relationship Id="rId61" Type="http://schemas.openxmlformats.org/officeDocument/2006/relationships/tags" Target="../tags/tag117.xml"/><Relationship Id="rId60" Type="http://schemas.openxmlformats.org/officeDocument/2006/relationships/tags" Target="../tags/tag116.xml"/><Relationship Id="rId6" Type="http://schemas.openxmlformats.org/officeDocument/2006/relationships/tags" Target="../tags/tag68.xml"/><Relationship Id="rId59" Type="http://schemas.openxmlformats.org/officeDocument/2006/relationships/tags" Target="../tags/tag115.xml"/><Relationship Id="rId58" Type="http://schemas.openxmlformats.org/officeDocument/2006/relationships/tags" Target="../tags/tag114.xml"/><Relationship Id="rId57" Type="http://schemas.openxmlformats.org/officeDocument/2006/relationships/tags" Target="../tags/tag113.xml"/><Relationship Id="rId56" Type="http://schemas.openxmlformats.org/officeDocument/2006/relationships/tags" Target="../tags/tag112.xml"/><Relationship Id="rId55" Type="http://schemas.openxmlformats.org/officeDocument/2006/relationships/tags" Target="../tags/tag111.xml"/><Relationship Id="rId54" Type="http://schemas.openxmlformats.org/officeDocument/2006/relationships/image" Target="../media/image6.svg"/><Relationship Id="rId53" Type="http://schemas.openxmlformats.org/officeDocument/2006/relationships/image" Target="../media/image5.svg"/><Relationship Id="rId52" Type="http://schemas.openxmlformats.org/officeDocument/2006/relationships/tags" Target="../tags/tag110.xml"/><Relationship Id="rId51" Type="http://schemas.openxmlformats.org/officeDocument/2006/relationships/tags" Target="../tags/tag109.xml"/><Relationship Id="rId50" Type="http://schemas.openxmlformats.org/officeDocument/2006/relationships/tags" Target="../tags/tag108.xml"/><Relationship Id="rId5" Type="http://schemas.openxmlformats.org/officeDocument/2006/relationships/tags" Target="../tags/tag67.xml"/><Relationship Id="rId49" Type="http://schemas.openxmlformats.org/officeDocument/2006/relationships/tags" Target="../tags/tag107.xml"/><Relationship Id="rId48" Type="http://schemas.openxmlformats.org/officeDocument/2006/relationships/tags" Target="../tags/tag106.xml"/><Relationship Id="rId47" Type="http://schemas.openxmlformats.org/officeDocument/2006/relationships/tags" Target="../tags/tag105.xml"/><Relationship Id="rId46" Type="http://schemas.openxmlformats.org/officeDocument/2006/relationships/tags" Target="../tags/tag104.xml"/><Relationship Id="rId45" Type="http://schemas.openxmlformats.org/officeDocument/2006/relationships/tags" Target="../tags/tag103.xml"/><Relationship Id="rId44" Type="http://schemas.openxmlformats.org/officeDocument/2006/relationships/tags" Target="../tags/tag102.xml"/><Relationship Id="rId43" Type="http://schemas.openxmlformats.org/officeDocument/2006/relationships/tags" Target="../tags/tag101.xml"/><Relationship Id="rId42" Type="http://schemas.openxmlformats.org/officeDocument/2006/relationships/tags" Target="../tags/tag100.xml"/><Relationship Id="rId41" Type="http://schemas.openxmlformats.org/officeDocument/2006/relationships/tags" Target="../tags/tag99.xml"/><Relationship Id="rId40" Type="http://schemas.openxmlformats.org/officeDocument/2006/relationships/tags" Target="../tags/tag98.xml"/><Relationship Id="rId4" Type="http://schemas.openxmlformats.org/officeDocument/2006/relationships/tags" Target="../tags/tag66.xml"/><Relationship Id="rId39" Type="http://schemas.openxmlformats.org/officeDocument/2006/relationships/tags" Target="../tags/tag97.xml"/><Relationship Id="rId38" Type="http://schemas.openxmlformats.org/officeDocument/2006/relationships/tags" Target="../tags/tag96.xml"/><Relationship Id="rId37" Type="http://schemas.openxmlformats.org/officeDocument/2006/relationships/tags" Target="../tags/tag95.xml"/><Relationship Id="rId36" Type="http://schemas.openxmlformats.org/officeDocument/2006/relationships/tags" Target="../tags/tag94.xml"/><Relationship Id="rId35" Type="http://schemas.openxmlformats.org/officeDocument/2006/relationships/tags" Target="../tags/tag93.xml"/><Relationship Id="rId34" Type="http://schemas.openxmlformats.org/officeDocument/2006/relationships/tags" Target="../tags/tag92.xml"/><Relationship Id="rId33" Type="http://schemas.openxmlformats.org/officeDocument/2006/relationships/tags" Target="../tags/tag91.xml"/><Relationship Id="rId32" Type="http://schemas.openxmlformats.org/officeDocument/2006/relationships/tags" Target="../tags/tag90.xml"/><Relationship Id="rId31" Type="http://schemas.openxmlformats.org/officeDocument/2006/relationships/tags" Target="../tags/tag89.xml"/><Relationship Id="rId30" Type="http://schemas.openxmlformats.org/officeDocument/2006/relationships/tags" Target="../tags/tag88.xml"/><Relationship Id="rId3" Type="http://schemas.openxmlformats.org/officeDocument/2006/relationships/tags" Target="../tags/tag65.xml"/><Relationship Id="rId29" Type="http://schemas.openxmlformats.org/officeDocument/2006/relationships/tags" Target="../tags/tag87.xml"/><Relationship Id="rId28" Type="http://schemas.openxmlformats.org/officeDocument/2006/relationships/tags" Target="../tags/tag86.xml"/><Relationship Id="rId27" Type="http://schemas.openxmlformats.org/officeDocument/2006/relationships/tags" Target="../tags/tag85.xml"/><Relationship Id="rId26" Type="http://schemas.openxmlformats.org/officeDocument/2006/relationships/tags" Target="../tags/tag84.xml"/><Relationship Id="rId25" Type="http://schemas.openxmlformats.org/officeDocument/2006/relationships/tags" Target="../tags/tag83.xml"/><Relationship Id="rId24" Type="http://schemas.openxmlformats.org/officeDocument/2006/relationships/tags" Target="../tags/tag82.xml"/><Relationship Id="rId23" Type="http://schemas.openxmlformats.org/officeDocument/2006/relationships/tags" Target="../tags/tag81.xml"/><Relationship Id="rId22" Type="http://schemas.openxmlformats.org/officeDocument/2006/relationships/tags" Target="../tags/tag80.xml"/><Relationship Id="rId21" Type="http://schemas.openxmlformats.org/officeDocument/2006/relationships/tags" Target="../tags/tag79.xml"/><Relationship Id="rId20" Type="http://schemas.openxmlformats.org/officeDocument/2006/relationships/tags" Target="../tags/tag78.xml"/><Relationship Id="rId2" Type="http://schemas.openxmlformats.org/officeDocument/2006/relationships/tags" Target="../tags/tag64.xml"/><Relationship Id="rId19" Type="http://schemas.openxmlformats.org/officeDocument/2006/relationships/tags" Target="../tags/tag77.xml"/><Relationship Id="rId18" Type="http://schemas.openxmlformats.org/officeDocument/2006/relationships/tags" Target="../tags/tag76.xml"/><Relationship Id="rId17" Type="http://schemas.openxmlformats.org/officeDocument/2006/relationships/tags" Target="../tags/tag75.xml"/><Relationship Id="rId16" Type="http://schemas.openxmlformats.org/officeDocument/2006/relationships/tags" Target="../tags/tag74.xml"/><Relationship Id="rId15" Type="http://schemas.openxmlformats.org/officeDocument/2006/relationships/image" Target="../media/image4.svg"/><Relationship Id="rId14" Type="http://schemas.openxmlformats.org/officeDocument/2006/relationships/image" Target="../media/image3.png"/><Relationship Id="rId13" Type="http://schemas.openxmlformats.org/officeDocument/2006/relationships/image" Target="../media/image2.svg"/><Relationship Id="rId12" Type="http://schemas.openxmlformats.org/officeDocument/2006/relationships/image" Target="../media/image1.png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0" Type="http://schemas.openxmlformats.org/officeDocument/2006/relationships/slideLayout" Target="../slideLayouts/slideLayout1.xml"/><Relationship Id="rId3" Type="http://schemas.openxmlformats.org/officeDocument/2006/relationships/tags" Target="../tags/tag122.xml"/><Relationship Id="rId29" Type="http://schemas.openxmlformats.org/officeDocument/2006/relationships/tags" Target="../tags/tag142.xml"/><Relationship Id="rId28" Type="http://schemas.openxmlformats.org/officeDocument/2006/relationships/image" Target="../media/image12.svg"/><Relationship Id="rId27" Type="http://schemas.openxmlformats.org/officeDocument/2006/relationships/image" Target="../media/image11.png"/><Relationship Id="rId26" Type="http://schemas.openxmlformats.org/officeDocument/2006/relationships/tags" Target="../tags/tag141.xml"/><Relationship Id="rId25" Type="http://schemas.openxmlformats.org/officeDocument/2006/relationships/tags" Target="../tags/tag140.xml"/><Relationship Id="rId24" Type="http://schemas.openxmlformats.org/officeDocument/2006/relationships/image" Target="../media/image10.svg"/><Relationship Id="rId23" Type="http://schemas.openxmlformats.org/officeDocument/2006/relationships/image" Target="../media/image9.png"/><Relationship Id="rId22" Type="http://schemas.openxmlformats.org/officeDocument/2006/relationships/tags" Target="../tags/tag139.xml"/><Relationship Id="rId21" Type="http://schemas.openxmlformats.org/officeDocument/2006/relationships/tags" Target="../tags/tag138.xml"/><Relationship Id="rId20" Type="http://schemas.openxmlformats.org/officeDocument/2006/relationships/tags" Target="../tags/tag137.xml"/><Relationship Id="rId2" Type="http://schemas.openxmlformats.org/officeDocument/2006/relationships/tags" Target="../tags/tag121.xml"/><Relationship Id="rId19" Type="http://schemas.openxmlformats.org/officeDocument/2006/relationships/tags" Target="../tags/tag136.xml"/><Relationship Id="rId18" Type="http://schemas.openxmlformats.org/officeDocument/2006/relationships/image" Target="../media/image8.svg"/><Relationship Id="rId17" Type="http://schemas.openxmlformats.org/officeDocument/2006/relationships/image" Target="../media/image7.png"/><Relationship Id="rId16" Type="http://schemas.openxmlformats.org/officeDocument/2006/relationships/tags" Target="../tags/tag135.xml"/><Relationship Id="rId15" Type="http://schemas.openxmlformats.org/officeDocument/2006/relationships/tags" Target="../tags/tag134.xml"/><Relationship Id="rId14" Type="http://schemas.openxmlformats.org/officeDocument/2006/relationships/tags" Target="../tags/tag133.xml"/><Relationship Id="rId13" Type="http://schemas.openxmlformats.org/officeDocument/2006/relationships/tags" Target="../tags/tag132.xml"/><Relationship Id="rId12" Type="http://schemas.openxmlformats.org/officeDocument/2006/relationships/tags" Target="../tags/tag13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tags" Target="../tags/tag1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4" name="文本框 163"/>
          <p:cNvSpPr txBox="1"/>
          <p:nvPr/>
        </p:nvSpPr>
        <p:spPr>
          <a:xfrm>
            <a:off x="1018223" y="4964430"/>
            <a:ext cx="563880" cy="252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(a)</a:t>
            </a:r>
            <a:endParaRPr lang="en-US" altLang="zh-CN" sz="1400"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</p:txBody>
      </p:sp>
      <p:sp>
        <p:nvSpPr>
          <p:cNvPr id="279" name="燕尾形箭头 278"/>
          <p:cNvSpPr/>
          <p:nvPr/>
        </p:nvSpPr>
        <p:spPr>
          <a:xfrm>
            <a:off x="2133600" y="3601720"/>
            <a:ext cx="396000" cy="288000"/>
          </a:xfrm>
          <a:prstGeom prst="notched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80" name="燕尾形箭头 279"/>
          <p:cNvSpPr/>
          <p:nvPr/>
        </p:nvSpPr>
        <p:spPr>
          <a:xfrm>
            <a:off x="5149850" y="3601720"/>
            <a:ext cx="396000" cy="288000"/>
          </a:xfrm>
          <a:prstGeom prst="notched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301" name="组合 300"/>
          <p:cNvGrpSpPr/>
          <p:nvPr/>
        </p:nvGrpSpPr>
        <p:grpSpPr>
          <a:xfrm>
            <a:off x="1339215" y="2209800"/>
            <a:ext cx="1091565" cy="275590"/>
            <a:chOff x="1220" y="11777"/>
            <a:chExt cx="1719" cy="434"/>
          </a:xfrm>
        </p:grpSpPr>
        <p:sp>
          <p:nvSpPr>
            <p:cNvPr id="284" name="矩形 283"/>
            <p:cNvSpPr/>
            <p:nvPr>
              <p:custDataLst>
                <p:tags r:id="rId1"/>
              </p:custDataLst>
            </p:nvPr>
          </p:nvSpPr>
          <p:spPr>
            <a:xfrm>
              <a:off x="1220" y="11796"/>
              <a:ext cx="397" cy="397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85" name="矩形 284"/>
            <p:cNvSpPr/>
            <p:nvPr>
              <p:custDataLst>
                <p:tags r:id="rId2"/>
              </p:custDataLst>
            </p:nvPr>
          </p:nvSpPr>
          <p:spPr>
            <a:xfrm>
              <a:off x="1645" y="11796"/>
              <a:ext cx="397" cy="397"/>
            </a:xfrm>
            <a:prstGeom prst="rect">
              <a:avLst/>
            </a:prstGeom>
            <a:solidFill>
              <a:srgbClr val="7FBA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87" name="文本框 286"/>
            <p:cNvSpPr txBox="1"/>
            <p:nvPr>
              <p:custDataLst>
                <p:tags r:id="rId3"/>
              </p:custDataLst>
            </p:nvPr>
          </p:nvSpPr>
          <p:spPr>
            <a:xfrm>
              <a:off x="1870" y="11777"/>
              <a:ext cx="1069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>
                  <a:latin typeface="Arial" panose="020B0604020202090204" pitchFamily="34" charset="0"/>
                  <a:ea typeface="微软雅黑" charset="-122"/>
                  <a:cs typeface="Arial" panose="020B0604020202090204" pitchFamily="34" charset="0"/>
                </a:rPr>
                <a:t>Job 1</a:t>
              </a:r>
              <a:endPara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302" name="组合 301"/>
          <p:cNvGrpSpPr/>
          <p:nvPr/>
        </p:nvGrpSpPr>
        <p:grpSpPr>
          <a:xfrm>
            <a:off x="2327275" y="2209800"/>
            <a:ext cx="1082675" cy="275590"/>
            <a:chOff x="1220" y="12253"/>
            <a:chExt cx="1705" cy="434"/>
          </a:xfrm>
        </p:grpSpPr>
        <p:sp>
          <p:nvSpPr>
            <p:cNvPr id="288" name="矩形 287"/>
            <p:cNvSpPr/>
            <p:nvPr>
              <p:custDataLst>
                <p:tags r:id="rId4"/>
              </p:custDataLst>
            </p:nvPr>
          </p:nvSpPr>
          <p:spPr>
            <a:xfrm>
              <a:off x="1220" y="12272"/>
              <a:ext cx="397" cy="397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89" name="矩形 288"/>
            <p:cNvSpPr/>
            <p:nvPr>
              <p:custDataLst>
                <p:tags r:id="rId5"/>
              </p:custDataLst>
            </p:nvPr>
          </p:nvSpPr>
          <p:spPr>
            <a:xfrm>
              <a:off x="1645" y="12272"/>
              <a:ext cx="397" cy="397"/>
            </a:xfrm>
            <a:prstGeom prst="rect">
              <a:avLst/>
            </a:prstGeom>
            <a:solidFill>
              <a:srgbClr val="FFB9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91" name="文本框 290"/>
            <p:cNvSpPr txBox="1"/>
            <p:nvPr>
              <p:custDataLst>
                <p:tags r:id="rId6"/>
              </p:custDataLst>
            </p:nvPr>
          </p:nvSpPr>
          <p:spPr>
            <a:xfrm>
              <a:off x="1856" y="12253"/>
              <a:ext cx="1069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>
                  <a:latin typeface="Arial" panose="020B0604020202090204" pitchFamily="34" charset="0"/>
                  <a:ea typeface="微软雅黑" charset="-122"/>
                  <a:cs typeface="Arial" panose="020B0604020202090204" pitchFamily="34" charset="0"/>
                </a:rPr>
                <a:t>Job 2</a:t>
              </a:r>
              <a:endPara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303" name="组合 302"/>
          <p:cNvGrpSpPr/>
          <p:nvPr/>
        </p:nvGrpSpPr>
        <p:grpSpPr>
          <a:xfrm>
            <a:off x="3313430" y="2209800"/>
            <a:ext cx="1084580" cy="275590"/>
            <a:chOff x="1220" y="12743"/>
            <a:chExt cx="1708" cy="434"/>
          </a:xfrm>
        </p:grpSpPr>
        <p:sp>
          <p:nvSpPr>
            <p:cNvPr id="292" name="矩形 291"/>
            <p:cNvSpPr/>
            <p:nvPr>
              <p:custDataLst>
                <p:tags r:id="rId7"/>
              </p:custDataLst>
            </p:nvPr>
          </p:nvSpPr>
          <p:spPr>
            <a:xfrm>
              <a:off x="1220" y="12762"/>
              <a:ext cx="397" cy="397"/>
            </a:xfrm>
            <a:prstGeom prst="rect">
              <a:avLst/>
            </a:prstGeom>
            <a:solidFill>
              <a:srgbClr val="00A4E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93" name="矩形 292"/>
            <p:cNvSpPr/>
            <p:nvPr>
              <p:custDataLst>
                <p:tags r:id="rId8"/>
              </p:custDataLst>
            </p:nvPr>
          </p:nvSpPr>
          <p:spPr>
            <a:xfrm>
              <a:off x="1645" y="12762"/>
              <a:ext cx="397" cy="397"/>
            </a:xfrm>
            <a:prstGeom prst="rect">
              <a:avLst/>
            </a:prstGeom>
            <a:solidFill>
              <a:srgbClr val="00A4E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95" name="文本框 294"/>
            <p:cNvSpPr txBox="1"/>
            <p:nvPr>
              <p:custDataLst>
                <p:tags r:id="rId9"/>
              </p:custDataLst>
            </p:nvPr>
          </p:nvSpPr>
          <p:spPr>
            <a:xfrm>
              <a:off x="1859" y="12743"/>
              <a:ext cx="1069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>
                  <a:latin typeface="Arial" panose="020B0604020202090204" pitchFamily="34" charset="0"/>
                  <a:ea typeface="微软雅黑" charset="-122"/>
                  <a:cs typeface="Arial" panose="020B0604020202090204" pitchFamily="34" charset="0"/>
                </a:rPr>
                <a:t>Job 3</a:t>
              </a:r>
              <a:endPara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304" name="组合 303"/>
          <p:cNvGrpSpPr/>
          <p:nvPr/>
        </p:nvGrpSpPr>
        <p:grpSpPr>
          <a:xfrm>
            <a:off x="4317365" y="2209800"/>
            <a:ext cx="1086485" cy="275590"/>
            <a:chOff x="1553" y="13299"/>
            <a:chExt cx="1711" cy="434"/>
          </a:xfrm>
        </p:grpSpPr>
        <p:sp>
          <p:nvSpPr>
            <p:cNvPr id="296" name="矩形 295"/>
            <p:cNvSpPr/>
            <p:nvPr>
              <p:custDataLst>
                <p:tags r:id="rId10"/>
              </p:custDataLst>
            </p:nvPr>
          </p:nvSpPr>
          <p:spPr>
            <a:xfrm>
              <a:off x="1553" y="13318"/>
              <a:ext cx="397" cy="397"/>
            </a:xfrm>
            <a:prstGeom prst="rect">
              <a:avLst/>
            </a:prstGeom>
            <a:solidFill>
              <a:schemeClr val="bg2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97" name="文本框 296"/>
            <p:cNvSpPr txBox="1"/>
            <p:nvPr>
              <p:custDataLst>
                <p:tags r:id="rId11"/>
              </p:custDataLst>
            </p:nvPr>
          </p:nvSpPr>
          <p:spPr>
            <a:xfrm>
              <a:off x="1781" y="13299"/>
              <a:ext cx="1483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>
                  <a:latin typeface="Arial" panose="020B0604020202090204" pitchFamily="34" charset="0"/>
                  <a:ea typeface="微软雅黑" charset="-122"/>
                  <a:cs typeface="Arial" panose="020B0604020202090204" pitchFamily="34" charset="0"/>
                </a:rPr>
                <a:t>Occupied </a:t>
              </a:r>
              <a:endPara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314" name="组合 313"/>
          <p:cNvGrpSpPr/>
          <p:nvPr/>
        </p:nvGrpSpPr>
        <p:grpSpPr>
          <a:xfrm>
            <a:off x="6724650" y="2117725"/>
            <a:ext cx="1720215" cy="460375"/>
            <a:chOff x="9967" y="11251"/>
            <a:chExt cx="2709" cy="725"/>
          </a:xfrm>
        </p:grpSpPr>
        <p:grpSp>
          <p:nvGrpSpPr>
            <p:cNvPr id="298" name="组合 297"/>
            <p:cNvGrpSpPr/>
            <p:nvPr/>
          </p:nvGrpSpPr>
          <p:grpSpPr>
            <a:xfrm rot="0">
              <a:off x="9967" y="11404"/>
              <a:ext cx="466" cy="419"/>
              <a:chOff x="12094" y="11793"/>
              <a:chExt cx="680" cy="419"/>
            </a:xfrm>
          </p:grpSpPr>
          <p:sp>
            <p:nvSpPr>
              <p:cNvPr id="485" name="任意多边形 484"/>
              <p:cNvSpPr/>
              <p:nvPr/>
            </p:nvSpPr>
            <p:spPr>
              <a:xfrm>
                <a:off x="12094" y="12100"/>
                <a:ext cx="680" cy="113"/>
              </a:xfrm>
              <a:custGeom>
                <a:avLst/>
                <a:gdLst>
                  <a:gd name="connisteX0" fmla="*/ 0 w 1567180"/>
                  <a:gd name="connsiteY0" fmla="*/ 180977 h 180977"/>
                  <a:gd name="connisteX1" fmla="*/ 779145 w 1567180"/>
                  <a:gd name="connsiteY1" fmla="*/ 2 h 180977"/>
                  <a:gd name="connisteX2" fmla="*/ 1567180 w 1567180"/>
                  <a:gd name="connsiteY2" fmla="*/ 178437 h 180977"/>
                  <a:gd name="connisteX3" fmla="*/ 1548130 w 1567180"/>
                  <a:gd name="connsiteY3" fmla="*/ 238127 h 180977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1567180" h="180977">
                    <a:moveTo>
                      <a:pt x="0" y="180977"/>
                    </a:moveTo>
                    <a:cubicBezTo>
                      <a:pt x="140335" y="140972"/>
                      <a:pt x="465455" y="637"/>
                      <a:pt x="779145" y="2"/>
                    </a:cubicBezTo>
                    <a:cubicBezTo>
                      <a:pt x="1092835" y="-633"/>
                      <a:pt x="1413510" y="130812"/>
                      <a:pt x="1567180" y="178437"/>
                    </a:cubicBezTo>
                  </a:path>
                </a:pathLst>
              </a:custGeom>
              <a:noFill/>
              <a:ln w="19050">
                <a:solidFill>
                  <a:srgbClr val="00A4EF"/>
                </a:solidFill>
                <a:headEnd type="none"/>
                <a:tailEnd type="none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86" name="任意多边形 485"/>
              <p:cNvSpPr/>
              <p:nvPr/>
            </p:nvSpPr>
            <p:spPr>
              <a:xfrm>
                <a:off x="12094" y="11947"/>
                <a:ext cx="680" cy="113"/>
              </a:xfrm>
              <a:custGeom>
                <a:avLst/>
                <a:gdLst>
                  <a:gd name="connisteX0" fmla="*/ 0 w 1567180"/>
                  <a:gd name="connsiteY0" fmla="*/ 180977 h 180977"/>
                  <a:gd name="connisteX1" fmla="*/ 779145 w 1567180"/>
                  <a:gd name="connsiteY1" fmla="*/ 2 h 180977"/>
                  <a:gd name="connisteX2" fmla="*/ 1567180 w 1567180"/>
                  <a:gd name="connsiteY2" fmla="*/ 178437 h 180977"/>
                  <a:gd name="connisteX3" fmla="*/ 1548130 w 1567180"/>
                  <a:gd name="connsiteY3" fmla="*/ 238127 h 180977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1567180" h="180977">
                    <a:moveTo>
                      <a:pt x="0" y="180977"/>
                    </a:moveTo>
                    <a:cubicBezTo>
                      <a:pt x="140335" y="140972"/>
                      <a:pt x="465455" y="637"/>
                      <a:pt x="779145" y="2"/>
                    </a:cubicBezTo>
                    <a:cubicBezTo>
                      <a:pt x="1092835" y="-633"/>
                      <a:pt x="1413510" y="130812"/>
                      <a:pt x="1567180" y="178437"/>
                    </a:cubicBezTo>
                  </a:path>
                </a:pathLst>
              </a:custGeom>
              <a:noFill/>
              <a:ln w="19050">
                <a:solidFill>
                  <a:srgbClr val="FFB900"/>
                </a:solidFill>
                <a:headEnd type="none"/>
                <a:tailEnd type="none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87" name="任意多边形 486"/>
              <p:cNvSpPr/>
              <p:nvPr/>
            </p:nvSpPr>
            <p:spPr>
              <a:xfrm>
                <a:off x="12094" y="11793"/>
                <a:ext cx="680" cy="113"/>
              </a:xfrm>
              <a:custGeom>
                <a:avLst/>
                <a:gdLst>
                  <a:gd name="connisteX0" fmla="*/ 0 w 1567180"/>
                  <a:gd name="connsiteY0" fmla="*/ 180977 h 180977"/>
                  <a:gd name="connisteX1" fmla="*/ 779145 w 1567180"/>
                  <a:gd name="connsiteY1" fmla="*/ 2 h 180977"/>
                  <a:gd name="connisteX2" fmla="*/ 1567180 w 1567180"/>
                  <a:gd name="connsiteY2" fmla="*/ 178437 h 180977"/>
                  <a:gd name="connisteX3" fmla="*/ 1548130 w 1567180"/>
                  <a:gd name="connsiteY3" fmla="*/ 238127 h 180977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1567180" h="180977">
                    <a:moveTo>
                      <a:pt x="0" y="180977"/>
                    </a:moveTo>
                    <a:cubicBezTo>
                      <a:pt x="140335" y="140972"/>
                      <a:pt x="465455" y="637"/>
                      <a:pt x="779145" y="2"/>
                    </a:cubicBezTo>
                    <a:cubicBezTo>
                      <a:pt x="1092835" y="-633"/>
                      <a:pt x="1413510" y="130812"/>
                      <a:pt x="1567180" y="178437"/>
                    </a:cubicBezTo>
                  </a:path>
                </a:pathLst>
              </a:custGeom>
              <a:noFill/>
              <a:ln w="19050">
                <a:solidFill>
                  <a:srgbClr val="7FBA00"/>
                </a:solidFill>
                <a:headEnd type="none"/>
                <a:tailEnd type="none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sp>
          <p:nvSpPr>
            <p:cNvPr id="488" name="文本框 487"/>
            <p:cNvSpPr txBox="1"/>
            <p:nvPr/>
          </p:nvSpPr>
          <p:spPr>
            <a:xfrm>
              <a:off x="10201" y="11251"/>
              <a:ext cx="2475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>
                  <a:latin typeface="Arial" panose="020B0604020202090204" pitchFamily="34" charset="0"/>
                  <a:ea typeface="微软雅黑" charset="-122"/>
                  <a:cs typeface="Arial" panose="020B0604020202090204" pitchFamily="34" charset="0"/>
                </a:rPr>
                <a:t>Job-Specific Routing Demands</a:t>
              </a:r>
              <a:endPara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300" name="组合 299"/>
          <p:cNvGrpSpPr/>
          <p:nvPr/>
        </p:nvGrpSpPr>
        <p:grpSpPr>
          <a:xfrm>
            <a:off x="5386070" y="2212975"/>
            <a:ext cx="1356360" cy="275590"/>
            <a:chOff x="8290" y="11694"/>
            <a:chExt cx="2136" cy="434"/>
          </a:xfrm>
        </p:grpSpPr>
        <p:sp>
          <p:nvSpPr>
            <p:cNvPr id="518" name="文本框 517"/>
            <p:cNvSpPr txBox="1"/>
            <p:nvPr/>
          </p:nvSpPr>
          <p:spPr>
            <a:xfrm>
              <a:off x="8563" y="11694"/>
              <a:ext cx="1863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>
                  <a:latin typeface="Arial" panose="020B0604020202090204" pitchFamily="34" charset="0"/>
                  <a:ea typeface="微软雅黑" charset="-122"/>
                  <a:cs typeface="Arial" panose="020B0604020202090204" pitchFamily="34" charset="0"/>
                </a:rPr>
                <a:t>OCS Circuit</a:t>
              </a:r>
              <a:endPara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endParaRPr>
            </a:p>
          </p:txBody>
        </p:sp>
        <p:cxnSp>
          <p:nvCxnSpPr>
            <p:cNvPr id="521" name="直接连接符 520"/>
            <p:cNvCxnSpPr/>
            <p:nvPr/>
          </p:nvCxnSpPr>
          <p:spPr>
            <a:xfrm flipV="1">
              <a:off x="8290" y="11908"/>
              <a:ext cx="533" cy="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06" name="圆角矩形 305"/>
          <p:cNvSpPr/>
          <p:nvPr/>
        </p:nvSpPr>
        <p:spPr>
          <a:xfrm>
            <a:off x="494665" y="2131060"/>
            <a:ext cx="8820000" cy="431800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8426450" y="2131060"/>
            <a:ext cx="889635" cy="460375"/>
            <a:chOff x="12911" y="11272"/>
            <a:chExt cx="1401" cy="725"/>
          </a:xfrm>
        </p:grpSpPr>
        <p:grpSp>
          <p:nvGrpSpPr>
            <p:cNvPr id="312" name="组合 311"/>
            <p:cNvGrpSpPr/>
            <p:nvPr/>
          </p:nvGrpSpPr>
          <p:grpSpPr>
            <a:xfrm>
              <a:off x="12911" y="11357"/>
              <a:ext cx="254" cy="525"/>
              <a:chOff x="12961" y="11326"/>
              <a:chExt cx="254" cy="525"/>
            </a:xfrm>
          </p:grpSpPr>
          <p:pic>
            <p:nvPicPr>
              <p:cNvPr id="516" name="图片 515" descr="不满足"/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2961" y="11326"/>
                <a:ext cx="255" cy="255"/>
              </a:xfrm>
              <a:prstGeom prst="rect">
                <a:avLst/>
              </a:prstGeom>
            </p:spPr>
          </p:pic>
          <p:pic>
            <p:nvPicPr>
              <p:cNvPr id="517" name="图片 516" descr="已满足"/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2975" y="11625"/>
                <a:ext cx="227" cy="227"/>
              </a:xfrm>
              <a:prstGeom prst="rect">
                <a:avLst/>
              </a:prstGeom>
            </p:spPr>
          </p:pic>
        </p:grpSp>
        <p:sp>
          <p:nvSpPr>
            <p:cNvPr id="310" name="文本框 309"/>
            <p:cNvSpPr txBox="1"/>
            <p:nvPr/>
          </p:nvSpPr>
          <p:spPr>
            <a:xfrm>
              <a:off x="13002" y="11272"/>
              <a:ext cx="131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>
                  <a:latin typeface="Arial" panose="020B0604020202090204" pitchFamily="34" charset="0"/>
                  <a:ea typeface="微软雅黑" charset="-122"/>
                  <a:cs typeface="Arial" panose="020B0604020202090204" pitchFamily="34" charset="0"/>
                </a:rPr>
                <a:t>Demand Served?</a:t>
              </a:r>
              <a:endPara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endParaRPr>
            </a:p>
          </p:txBody>
        </p:sp>
      </p:grpSp>
      <p:sp>
        <p:nvSpPr>
          <p:cNvPr id="165" name="文本框 164"/>
          <p:cNvSpPr txBox="1"/>
          <p:nvPr/>
        </p:nvSpPr>
        <p:spPr>
          <a:xfrm>
            <a:off x="3436303" y="4964430"/>
            <a:ext cx="759460" cy="252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(b)</a:t>
            </a:r>
            <a:endParaRPr lang="en-US" altLang="zh-CN" sz="1400"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</p:txBody>
      </p:sp>
      <p:grpSp>
        <p:nvGrpSpPr>
          <p:cNvPr id="130" name="组合 129"/>
          <p:cNvGrpSpPr/>
          <p:nvPr/>
        </p:nvGrpSpPr>
        <p:grpSpPr>
          <a:xfrm>
            <a:off x="559435" y="2209800"/>
            <a:ext cx="885825" cy="275590"/>
            <a:chOff x="4696" y="5554"/>
            <a:chExt cx="1395" cy="434"/>
          </a:xfrm>
        </p:grpSpPr>
        <p:grpSp>
          <p:nvGrpSpPr>
            <p:cNvPr id="125" name="组合 124"/>
            <p:cNvGrpSpPr/>
            <p:nvPr/>
          </p:nvGrpSpPr>
          <p:grpSpPr>
            <a:xfrm>
              <a:off x="4696" y="5659"/>
              <a:ext cx="566" cy="224"/>
              <a:chOff x="2051" y="7635"/>
              <a:chExt cx="566" cy="224"/>
            </a:xfrm>
          </p:grpSpPr>
          <p:sp>
            <p:nvSpPr>
              <p:cNvPr id="126" name="圆角矩形 125"/>
              <p:cNvSpPr/>
              <p:nvPr/>
            </p:nvSpPr>
            <p:spPr>
              <a:xfrm>
                <a:off x="2051" y="7635"/>
                <a:ext cx="567" cy="225"/>
              </a:xfrm>
              <a:prstGeom prst="roundRect">
                <a:avLst/>
              </a:prstGeom>
              <a:solidFill>
                <a:srgbClr val="60A5FA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27" name="直接连接符 126"/>
              <p:cNvCxnSpPr/>
              <p:nvPr/>
            </p:nvCxnSpPr>
            <p:spPr>
              <a:xfrm>
                <a:off x="2121" y="7748"/>
                <a:ext cx="283" cy="0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8" name="椭圆 127"/>
              <p:cNvSpPr/>
              <p:nvPr/>
            </p:nvSpPr>
            <p:spPr>
              <a:xfrm>
                <a:off x="2506" y="7719"/>
                <a:ext cx="57" cy="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29" name="文本框 128"/>
            <p:cNvSpPr txBox="1"/>
            <p:nvPr>
              <p:custDataLst>
                <p:tags r:id="rId16"/>
              </p:custDataLst>
            </p:nvPr>
          </p:nvSpPr>
          <p:spPr>
            <a:xfrm>
              <a:off x="5023" y="5554"/>
              <a:ext cx="1069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>
                  <a:latin typeface="Arial" panose="020B0604020202090204" pitchFamily="34" charset="0"/>
                  <a:ea typeface="微软雅黑" charset="-122"/>
                  <a:cs typeface="Arial" panose="020B0604020202090204" pitchFamily="34" charset="0"/>
                </a:rPr>
                <a:t>ToR</a:t>
              </a:r>
              <a:endPara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 rot="0">
            <a:off x="1310640" y="2655570"/>
            <a:ext cx="774700" cy="1081405"/>
            <a:chOff x="1680" y="10616"/>
            <a:chExt cx="1220" cy="1703"/>
          </a:xfrm>
        </p:grpSpPr>
        <p:sp>
          <p:nvSpPr>
            <p:cNvPr id="47" name="文本框 46"/>
            <p:cNvSpPr txBox="1"/>
            <p:nvPr/>
          </p:nvSpPr>
          <p:spPr>
            <a:xfrm>
              <a:off x="1680" y="10616"/>
              <a:ext cx="1220" cy="3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>
                  <a:latin typeface="Arial" panose="020B0604020202090204" pitchFamily="34" charset="0"/>
                  <a:ea typeface="微软雅黑" charset="-122"/>
                  <a:cs typeface="Arial" panose="020B0604020202090204" pitchFamily="34" charset="0"/>
                </a:rPr>
                <a:t>Rack 2</a:t>
              </a:r>
              <a:endPara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endParaRPr>
            </a:p>
          </p:txBody>
        </p:sp>
        <p:cxnSp>
          <p:nvCxnSpPr>
            <p:cNvPr id="49" name="直接连接符 48"/>
            <p:cNvCxnSpPr/>
            <p:nvPr>
              <p:custDataLst>
                <p:tags r:id="rId17"/>
              </p:custDataLst>
            </p:nvPr>
          </p:nvCxnSpPr>
          <p:spPr>
            <a:xfrm>
              <a:off x="1752" y="11307"/>
              <a:ext cx="10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0" name="矩形 49"/>
            <p:cNvSpPr/>
            <p:nvPr>
              <p:custDataLst>
                <p:tags r:id="rId18"/>
              </p:custDataLst>
            </p:nvPr>
          </p:nvSpPr>
          <p:spPr>
            <a:xfrm>
              <a:off x="1865" y="11388"/>
              <a:ext cx="397" cy="39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51" name="矩形 50"/>
            <p:cNvSpPr/>
            <p:nvPr>
              <p:custDataLst>
                <p:tags r:id="rId19"/>
              </p:custDataLst>
            </p:nvPr>
          </p:nvSpPr>
          <p:spPr>
            <a:xfrm>
              <a:off x="1752" y="11015"/>
              <a:ext cx="1077" cy="13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52" name="矩形 51"/>
            <p:cNvSpPr/>
            <p:nvPr>
              <p:custDataLst>
                <p:tags r:id="rId20"/>
              </p:custDataLst>
            </p:nvPr>
          </p:nvSpPr>
          <p:spPr>
            <a:xfrm>
              <a:off x="2321" y="11388"/>
              <a:ext cx="397" cy="397"/>
            </a:xfrm>
            <a:prstGeom prst="rect">
              <a:avLst/>
            </a:prstGeom>
            <a:solidFill>
              <a:srgbClr val="FFB9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53" name="矩形 52"/>
            <p:cNvSpPr/>
            <p:nvPr>
              <p:custDataLst>
                <p:tags r:id="rId21"/>
              </p:custDataLst>
            </p:nvPr>
          </p:nvSpPr>
          <p:spPr>
            <a:xfrm>
              <a:off x="1865" y="11855"/>
              <a:ext cx="397" cy="397"/>
            </a:xfrm>
            <a:prstGeom prst="rect">
              <a:avLst/>
            </a:prstGeom>
            <a:solidFill>
              <a:srgbClr val="7FBA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54" name="矩形 53"/>
            <p:cNvSpPr/>
            <p:nvPr>
              <p:custDataLst>
                <p:tags r:id="rId22"/>
              </p:custDataLst>
            </p:nvPr>
          </p:nvSpPr>
          <p:spPr>
            <a:xfrm>
              <a:off x="2321" y="11855"/>
              <a:ext cx="397" cy="39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 rot="0">
            <a:off x="514985" y="2655570"/>
            <a:ext cx="774700" cy="1081405"/>
            <a:chOff x="1680" y="10616"/>
            <a:chExt cx="1220" cy="1703"/>
          </a:xfrm>
        </p:grpSpPr>
        <p:sp>
          <p:nvSpPr>
            <p:cNvPr id="19" name="文本框 18"/>
            <p:cNvSpPr txBox="1"/>
            <p:nvPr/>
          </p:nvSpPr>
          <p:spPr>
            <a:xfrm>
              <a:off x="1680" y="10616"/>
              <a:ext cx="1220" cy="3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>
                  <a:latin typeface="Arial" panose="020B0604020202090204" pitchFamily="34" charset="0"/>
                  <a:ea typeface="微软雅黑" charset="-122"/>
                  <a:cs typeface="Arial" panose="020B0604020202090204" pitchFamily="34" charset="0"/>
                </a:rPr>
                <a:t>Rack 1</a:t>
              </a:r>
              <a:endPara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endParaRPr>
            </a:p>
          </p:txBody>
        </p:sp>
        <p:cxnSp>
          <p:nvCxnSpPr>
            <p:cNvPr id="21" name="直接连接符 20"/>
            <p:cNvCxnSpPr/>
            <p:nvPr>
              <p:custDataLst>
                <p:tags r:id="rId23"/>
              </p:custDataLst>
            </p:nvPr>
          </p:nvCxnSpPr>
          <p:spPr>
            <a:xfrm>
              <a:off x="1752" y="11307"/>
              <a:ext cx="10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2" name="矩形 21"/>
            <p:cNvSpPr/>
            <p:nvPr>
              <p:custDataLst>
                <p:tags r:id="rId24"/>
              </p:custDataLst>
            </p:nvPr>
          </p:nvSpPr>
          <p:spPr>
            <a:xfrm>
              <a:off x="1865" y="11388"/>
              <a:ext cx="397" cy="397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3" name="矩形 22"/>
            <p:cNvSpPr/>
            <p:nvPr>
              <p:custDataLst>
                <p:tags r:id="rId25"/>
              </p:custDataLst>
            </p:nvPr>
          </p:nvSpPr>
          <p:spPr>
            <a:xfrm>
              <a:off x="1752" y="11015"/>
              <a:ext cx="1077" cy="13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4" name="矩形 23"/>
            <p:cNvSpPr/>
            <p:nvPr>
              <p:custDataLst>
                <p:tags r:id="rId26"/>
              </p:custDataLst>
            </p:nvPr>
          </p:nvSpPr>
          <p:spPr>
            <a:xfrm>
              <a:off x="2321" y="11388"/>
              <a:ext cx="397" cy="397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27"/>
              </p:custDataLst>
            </p:nvPr>
          </p:nvSpPr>
          <p:spPr>
            <a:xfrm>
              <a:off x="1865" y="11855"/>
              <a:ext cx="397" cy="39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28"/>
              </p:custDataLst>
            </p:nvPr>
          </p:nvSpPr>
          <p:spPr>
            <a:xfrm>
              <a:off x="2321" y="11855"/>
              <a:ext cx="397" cy="39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 rot="0">
            <a:off x="514985" y="3717925"/>
            <a:ext cx="774700" cy="1081405"/>
            <a:chOff x="1680" y="10616"/>
            <a:chExt cx="1220" cy="1703"/>
          </a:xfrm>
        </p:grpSpPr>
        <p:sp>
          <p:nvSpPr>
            <p:cNvPr id="38" name="文本框 37"/>
            <p:cNvSpPr txBox="1"/>
            <p:nvPr/>
          </p:nvSpPr>
          <p:spPr>
            <a:xfrm>
              <a:off x="1680" y="10616"/>
              <a:ext cx="1220" cy="3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>
                  <a:latin typeface="Arial" panose="020B0604020202090204" pitchFamily="34" charset="0"/>
                  <a:ea typeface="微软雅黑" charset="-122"/>
                  <a:cs typeface="Arial" panose="020B0604020202090204" pitchFamily="34" charset="0"/>
                </a:rPr>
                <a:t>Rack 3</a:t>
              </a:r>
              <a:endPara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endParaRPr>
            </a:p>
          </p:txBody>
        </p:sp>
        <p:cxnSp>
          <p:nvCxnSpPr>
            <p:cNvPr id="40" name="直接连接符 39"/>
            <p:cNvCxnSpPr/>
            <p:nvPr>
              <p:custDataLst>
                <p:tags r:id="rId29"/>
              </p:custDataLst>
            </p:nvPr>
          </p:nvCxnSpPr>
          <p:spPr>
            <a:xfrm>
              <a:off x="1752" y="11307"/>
              <a:ext cx="10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1" name="矩形 40"/>
            <p:cNvSpPr/>
            <p:nvPr>
              <p:custDataLst>
                <p:tags r:id="rId30"/>
              </p:custDataLst>
            </p:nvPr>
          </p:nvSpPr>
          <p:spPr>
            <a:xfrm>
              <a:off x="1865" y="11388"/>
              <a:ext cx="397" cy="397"/>
            </a:xfrm>
            <a:prstGeom prst="rect">
              <a:avLst/>
            </a:prstGeom>
            <a:solidFill>
              <a:srgbClr val="00A4E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42" name="矩形 41"/>
            <p:cNvSpPr/>
            <p:nvPr>
              <p:custDataLst>
                <p:tags r:id="rId31"/>
              </p:custDataLst>
            </p:nvPr>
          </p:nvSpPr>
          <p:spPr>
            <a:xfrm>
              <a:off x="1752" y="11015"/>
              <a:ext cx="1077" cy="13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43" name="矩形 42"/>
            <p:cNvSpPr/>
            <p:nvPr>
              <p:custDataLst>
                <p:tags r:id="rId32"/>
              </p:custDataLst>
            </p:nvPr>
          </p:nvSpPr>
          <p:spPr>
            <a:xfrm>
              <a:off x="2321" y="11388"/>
              <a:ext cx="397" cy="39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44" name="矩形 43"/>
            <p:cNvSpPr/>
            <p:nvPr>
              <p:custDataLst>
                <p:tags r:id="rId33"/>
              </p:custDataLst>
            </p:nvPr>
          </p:nvSpPr>
          <p:spPr>
            <a:xfrm>
              <a:off x="1865" y="11855"/>
              <a:ext cx="397" cy="39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45" name="矩形 44"/>
            <p:cNvSpPr/>
            <p:nvPr>
              <p:custDataLst>
                <p:tags r:id="rId34"/>
              </p:custDataLst>
            </p:nvPr>
          </p:nvSpPr>
          <p:spPr>
            <a:xfrm>
              <a:off x="2321" y="11855"/>
              <a:ext cx="397" cy="397"/>
            </a:xfrm>
            <a:prstGeom prst="rect">
              <a:avLst/>
            </a:prstGeom>
            <a:solidFill>
              <a:schemeClr val="bg2">
                <a:lumMod val="5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 rot="0">
            <a:off x="1310640" y="3717925"/>
            <a:ext cx="774700" cy="1081405"/>
            <a:chOff x="1680" y="10616"/>
            <a:chExt cx="1220" cy="1703"/>
          </a:xfrm>
        </p:grpSpPr>
        <p:sp>
          <p:nvSpPr>
            <p:cNvPr id="56" name="文本框 55"/>
            <p:cNvSpPr txBox="1"/>
            <p:nvPr/>
          </p:nvSpPr>
          <p:spPr>
            <a:xfrm>
              <a:off x="1680" y="10616"/>
              <a:ext cx="1220" cy="3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>
                  <a:latin typeface="Arial" panose="020B0604020202090204" pitchFamily="34" charset="0"/>
                  <a:ea typeface="微软雅黑" charset="-122"/>
                  <a:cs typeface="Arial" panose="020B0604020202090204" pitchFamily="34" charset="0"/>
                </a:rPr>
                <a:t>Rack 4</a:t>
              </a:r>
              <a:endPara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35"/>
              </p:custDataLst>
            </p:nvPr>
          </p:nvCxnSpPr>
          <p:spPr>
            <a:xfrm>
              <a:off x="1752" y="11307"/>
              <a:ext cx="10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9" name="矩形 58"/>
            <p:cNvSpPr/>
            <p:nvPr>
              <p:custDataLst>
                <p:tags r:id="rId36"/>
              </p:custDataLst>
            </p:nvPr>
          </p:nvSpPr>
          <p:spPr>
            <a:xfrm>
              <a:off x="1865" y="11388"/>
              <a:ext cx="397" cy="39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0" name="矩形 59"/>
            <p:cNvSpPr/>
            <p:nvPr>
              <p:custDataLst>
                <p:tags r:id="rId37"/>
              </p:custDataLst>
            </p:nvPr>
          </p:nvSpPr>
          <p:spPr>
            <a:xfrm>
              <a:off x="1752" y="11015"/>
              <a:ext cx="1077" cy="13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1" name="矩形 60"/>
            <p:cNvSpPr/>
            <p:nvPr>
              <p:custDataLst>
                <p:tags r:id="rId38"/>
              </p:custDataLst>
            </p:nvPr>
          </p:nvSpPr>
          <p:spPr>
            <a:xfrm>
              <a:off x="2321" y="11388"/>
              <a:ext cx="397" cy="397"/>
            </a:xfrm>
            <a:prstGeom prst="rect">
              <a:avLst/>
            </a:prstGeom>
            <a:solidFill>
              <a:srgbClr val="7FBA0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2" name="矩形 61"/>
            <p:cNvSpPr/>
            <p:nvPr>
              <p:custDataLst>
                <p:tags r:id="rId39"/>
              </p:custDataLst>
            </p:nvPr>
          </p:nvSpPr>
          <p:spPr>
            <a:xfrm>
              <a:off x="1865" y="11855"/>
              <a:ext cx="397" cy="397"/>
            </a:xfrm>
            <a:prstGeom prst="rect">
              <a:avLst/>
            </a:prstGeom>
            <a:solidFill>
              <a:srgbClr val="FFB90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3" name="矩形 62"/>
            <p:cNvSpPr/>
            <p:nvPr>
              <p:custDataLst>
                <p:tags r:id="rId40"/>
              </p:custDataLst>
            </p:nvPr>
          </p:nvSpPr>
          <p:spPr>
            <a:xfrm>
              <a:off x="2321" y="11855"/>
              <a:ext cx="397" cy="397"/>
            </a:xfrm>
            <a:prstGeom prst="rect">
              <a:avLst/>
            </a:prstGeom>
            <a:solidFill>
              <a:srgbClr val="00A4E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124" name="组合 123"/>
          <p:cNvGrpSpPr/>
          <p:nvPr/>
        </p:nvGrpSpPr>
        <p:grpSpPr>
          <a:xfrm rot="0">
            <a:off x="1518285" y="2930525"/>
            <a:ext cx="359410" cy="142240"/>
            <a:chOff x="2051" y="7635"/>
            <a:chExt cx="566" cy="224"/>
          </a:xfrm>
        </p:grpSpPr>
        <p:sp>
          <p:nvSpPr>
            <p:cNvPr id="121" name="圆角矩形 120"/>
            <p:cNvSpPr/>
            <p:nvPr/>
          </p:nvSpPr>
          <p:spPr>
            <a:xfrm>
              <a:off x="2051" y="7635"/>
              <a:ext cx="567" cy="225"/>
            </a:xfrm>
            <a:prstGeom prst="roundRect">
              <a:avLst/>
            </a:prstGeom>
            <a:solidFill>
              <a:srgbClr val="60A5F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22" name="直接连接符 121"/>
            <p:cNvCxnSpPr/>
            <p:nvPr/>
          </p:nvCxnSpPr>
          <p:spPr>
            <a:xfrm>
              <a:off x="2121" y="7748"/>
              <a:ext cx="283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3" name="椭圆 122"/>
            <p:cNvSpPr/>
            <p:nvPr/>
          </p:nvSpPr>
          <p:spPr>
            <a:xfrm>
              <a:off x="2506" y="7719"/>
              <a:ext cx="57" cy="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31" name="组合 130"/>
          <p:cNvGrpSpPr/>
          <p:nvPr/>
        </p:nvGrpSpPr>
        <p:grpSpPr>
          <a:xfrm rot="0">
            <a:off x="722630" y="2930525"/>
            <a:ext cx="359410" cy="142240"/>
            <a:chOff x="2051" y="7635"/>
            <a:chExt cx="566" cy="224"/>
          </a:xfrm>
        </p:grpSpPr>
        <p:sp>
          <p:nvSpPr>
            <p:cNvPr id="132" name="圆角矩形 131"/>
            <p:cNvSpPr/>
            <p:nvPr/>
          </p:nvSpPr>
          <p:spPr>
            <a:xfrm>
              <a:off x="2051" y="7635"/>
              <a:ext cx="567" cy="225"/>
            </a:xfrm>
            <a:prstGeom prst="roundRect">
              <a:avLst/>
            </a:prstGeom>
            <a:solidFill>
              <a:srgbClr val="60A5F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34" name="直接连接符 133"/>
            <p:cNvCxnSpPr/>
            <p:nvPr/>
          </p:nvCxnSpPr>
          <p:spPr>
            <a:xfrm>
              <a:off x="2121" y="7748"/>
              <a:ext cx="283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5" name="椭圆 134"/>
            <p:cNvSpPr/>
            <p:nvPr/>
          </p:nvSpPr>
          <p:spPr>
            <a:xfrm>
              <a:off x="2506" y="7719"/>
              <a:ext cx="57" cy="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36" name="组合 135"/>
          <p:cNvGrpSpPr/>
          <p:nvPr/>
        </p:nvGrpSpPr>
        <p:grpSpPr>
          <a:xfrm rot="0">
            <a:off x="722630" y="3993515"/>
            <a:ext cx="359410" cy="142240"/>
            <a:chOff x="2051" y="7635"/>
            <a:chExt cx="566" cy="224"/>
          </a:xfrm>
        </p:grpSpPr>
        <p:sp>
          <p:nvSpPr>
            <p:cNvPr id="137" name="圆角矩形 136"/>
            <p:cNvSpPr/>
            <p:nvPr/>
          </p:nvSpPr>
          <p:spPr>
            <a:xfrm>
              <a:off x="2051" y="7635"/>
              <a:ext cx="567" cy="225"/>
            </a:xfrm>
            <a:prstGeom prst="roundRect">
              <a:avLst/>
            </a:prstGeom>
            <a:solidFill>
              <a:srgbClr val="60A5F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38" name="直接连接符 137"/>
            <p:cNvCxnSpPr/>
            <p:nvPr/>
          </p:nvCxnSpPr>
          <p:spPr>
            <a:xfrm>
              <a:off x="2121" y="7748"/>
              <a:ext cx="283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9" name="椭圆 138"/>
            <p:cNvSpPr/>
            <p:nvPr/>
          </p:nvSpPr>
          <p:spPr>
            <a:xfrm>
              <a:off x="2506" y="7719"/>
              <a:ext cx="57" cy="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41" name="组合 140"/>
          <p:cNvGrpSpPr/>
          <p:nvPr/>
        </p:nvGrpSpPr>
        <p:grpSpPr>
          <a:xfrm rot="0">
            <a:off x="1518285" y="3993515"/>
            <a:ext cx="359410" cy="142240"/>
            <a:chOff x="2051" y="7635"/>
            <a:chExt cx="566" cy="224"/>
          </a:xfrm>
        </p:grpSpPr>
        <p:sp>
          <p:nvSpPr>
            <p:cNvPr id="142" name="圆角矩形 141"/>
            <p:cNvSpPr/>
            <p:nvPr/>
          </p:nvSpPr>
          <p:spPr>
            <a:xfrm>
              <a:off x="2051" y="7635"/>
              <a:ext cx="567" cy="225"/>
            </a:xfrm>
            <a:prstGeom prst="roundRect">
              <a:avLst/>
            </a:prstGeom>
            <a:solidFill>
              <a:srgbClr val="60A5F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48" name="直接连接符 147"/>
            <p:cNvCxnSpPr/>
            <p:nvPr/>
          </p:nvCxnSpPr>
          <p:spPr>
            <a:xfrm>
              <a:off x="2121" y="7748"/>
              <a:ext cx="283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9" name="椭圆 148"/>
            <p:cNvSpPr/>
            <p:nvPr/>
          </p:nvSpPr>
          <p:spPr>
            <a:xfrm>
              <a:off x="2506" y="7719"/>
              <a:ext cx="57" cy="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01" name="圆角矩形 200"/>
          <p:cNvSpPr/>
          <p:nvPr/>
        </p:nvSpPr>
        <p:spPr>
          <a:xfrm>
            <a:off x="3345180" y="2877820"/>
            <a:ext cx="901065" cy="1579880"/>
          </a:xfrm>
          <a:prstGeom prst="roundRect">
            <a:avLst>
              <a:gd name="adj" fmla="val 5073"/>
            </a:avLst>
          </a:prstGeom>
          <a:solidFill>
            <a:srgbClr val="E0CDEE">
              <a:alpha val="5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8" name="文本框 387"/>
          <p:cNvSpPr txBox="1"/>
          <p:nvPr/>
        </p:nvSpPr>
        <p:spPr>
          <a:xfrm rot="1080000">
            <a:off x="3317875" y="2976245"/>
            <a:ext cx="10090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 i="1">
                <a:solidFill>
                  <a:schemeClr val="bg2">
                    <a:lumMod val="50000"/>
                  </a:schemeClr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Dispatch</a:t>
            </a:r>
            <a:endParaRPr lang="en-US" altLang="zh-CN" sz="1200" i="1">
              <a:solidFill>
                <a:schemeClr val="bg2">
                  <a:lumMod val="50000"/>
                </a:schemeClr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289175" y="4580890"/>
            <a:ext cx="1231900" cy="506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i="1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Source Racks</a:t>
            </a:r>
            <a:endParaRPr lang="zh-CN" altLang="en-US" sz="120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052570" y="4578985"/>
            <a:ext cx="1273175" cy="501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i="1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Expert Racks</a:t>
            </a:r>
            <a:endParaRPr lang="zh-CN" altLang="en-US" sz="120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160" name="文本框 159"/>
          <p:cNvSpPr txBox="1"/>
          <p:nvPr/>
        </p:nvSpPr>
        <p:spPr>
          <a:xfrm rot="1020000">
            <a:off x="3267075" y="3286760"/>
            <a:ext cx="10090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 i="1">
                <a:solidFill>
                  <a:schemeClr val="bg2">
                    <a:lumMod val="50000"/>
                  </a:schemeClr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Combine</a:t>
            </a:r>
            <a:endParaRPr lang="en-US" altLang="zh-CN" sz="1200" i="1">
              <a:solidFill>
                <a:schemeClr val="bg2">
                  <a:lumMod val="50000"/>
                </a:schemeClr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3145790" y="4578985"/>
            <a:ext cx="1301750" cy="501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i="1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All-to-All </a:t>
            </a:r>
            <a:endParaRPr lang="en-US" altLang="zh-CN" sz="1200" i="1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  <a:p>
            <a:pPr algn="ctr"/>
            <a:r>
              <a:rPr lang="en-US" altLang="zh-CN" sz="1200" i="1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Comm.</a:t>
            </a:r>
            <a:endParaRPr lang="zh-CN" altLang="en-US" sz="120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grpSp>
        <p:nvGrpSpPr>
          <p:cNvPr id="192" name="组合 191"/>
          <p:cNvGrpSpPr/>
          <p:nvPr/>
        </p:nvGrpSpPr>
        <p:grpSpPr>
          <a:xfrm rot="0">
            <a:off x="2570480" y="2624455"/>
            <a:ext cx="774700" cy="624205"/>
            <a:chOff x="3908" y="7023"/>
            <a:chExt cx="1220" cy="983"/>
          </a:xfrm>
        </p:grpSpPr>
        <p:sp>
          <p:nvSpPr>
            <p:cNvPr id="90" name="文本框 89"/>
            <p:cNvSpPr txBox="1"/>
            <p:nvPr/>
          </p:nvSpPr>
          <p:spPr>
            <a:xfrm>
              <a:off x="3908" y="7023"/>
              <a:ext cx="1220" cy="3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>
                  <a:latin typeface="Arial" panose="020B0604020202090204" pitchFamily="34" charset="0"/>
                  <a:ea typeface="微软雅黑" charset="-122"/>
                  <a:cs typeface="Arial" panose="020B0604020202090204" pitchFamily="34" charset="0"/>
                </a:rPr>
                <a:t>Rack 1</a:t>
              </a:r>
              <a:endPara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endParaRPr>
            </a:p>
          </p:txBody>
        </p:sp>
        <p:cxnSp>
          <p:nvCxnSpPr>
            <p:cNvPr id="92" name="直接连接符 91"/>
            <p:cNvCxnSpPr/>
            <p:nvPr>
              <p:custDataLst>
                <p:tags r:id="rId41"/>
              </p:custDataLst>
            </p:nvPr>
          </p:nvCxnSpPr>
          <p:spPr>
            <a:xfrm>
              <a:off x="3980" y="7714"/>
              <a:ext cx="10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4" name="矩形 93"/>
            <p:cNvSpPr/>
            <p:nvPr>
              <p:custDataLst>
                <p:tags r:id="rId42"/>
              </p:custDataLst>
            </p:nvPr>
          </p:nvSpPr>
          <p:spPr>
            <a:xfrm>
              <a:off x="3980" y="7422"/>
              <a:ext cx="1077" cy="58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grpSp>
          <p:nvGrpSpPr>
            <p:cNvPr id="150" name="组合 149"/>
            <p:cNvGrpSpPr/>
            <p:nvPr/>
          </p:nvGrpSpPr>
          <p:grpSpPr>
            <a:xfrm>
              <a:off x="4235" y="7460"/>
              <a:ext cx="566" cy="224"/>
              <a:chOff x="2051" y="7635"/>
              <a:chExt cx="566" cy="224"/>
            </a:xfrm>
          </p:grpSpPr>
          <p:sp>
            <p:nvSpPr>
              <p:cNvPr id="151" name="圆角矩形 150"/>
              <p:cNvSpPr/>
              <p:nvPr/>
            </p:nvSpPr>
            <p:spPr>
              <a:xfrm>
                <a:off x="2051" y="7635"/>
                <a:ext cx="567" cy="225"/>
              </a:xfrm>
              <a:prstGeom prst="roundRect">
                <a:avLst/>
              </a:prstGeom>
              <a:solidFill>
                <a:srgbClr val="60A5FA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52" name="直接连接符 151"/>
              <p:cNvCxnSpPr/>
              <p:nvPr/>
            </p:nvCxnSpPr>
            <p:spPr>
              <a:xfrm>
                <a:off x="2121" y="7748"/>
                <a:ext cx="283" cy="0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55" name="椭圆 154"/>
              <p:cNvSpPr/>
              <p:nvPr/>
            </p:nvSpPr>
            <p:spPr>
              <a:xfrm>
                <a:off x="2506" y="7719"/>
                <a:ext cx="57" cy="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91" name="组合 190"/>
          <p:cNvGrpSpPr/>
          <p:nvPr/>
        </p:nvGrpSpPr>
        <p:grpSpPr>
          <a:xfrm rot="0">
            <a:off x="2570480" y="3228975"/>
            <a:ext cx="774700" cy="624205"/>
            <a:chOff x="3908" y="8119"/>
            <a:chExt cx="1220" cy="983"/>
          </a:xfrm>
        </p:grpSpPr>
        <p:sp>
          <p:nvSpPr>
            <p:cNvPr id="100" name="文本框 99"/>
            <p:cNvSpPr txBox="1"/>
            <p:nvPr/>
          </p:nvSpPr>
          <p:spPr>
            <a:xfrm>
              <a:off x="3908" y="8119"/>
              <a:ext cx="1220" cy="3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>
                  <a:latin typeface="Arial" panose="020B0604020202090204" pitchFamily="34" charset="0"/>
                  <a:ea typeface="微软雅黑" charset="-122"/>
                  <a:cs typeface="Arial" panose="020B0604020202090204" pitchFamily="34" charset="0"/>
                </a:rPr>
                <a:t>Rack 2</a:t>
              </a:r>
              <a:endPara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endParaRPr>
            </a:p>
          </p:txBody>
        </p:sp>
        <p:cxnSp>
          <p:nvCxnSpPr>
            <p:cNvPr id="102" name="直接连接符 101"/>
            <p:cNvCxnSpPr/>
            <p:nvPr>
              <p:custDataLst>
                <p:tags r:id="rId43"/>
              </p:custDataLst>
            </p:nvPr>
          </p:nvCxnSpPr>
          <p:spPr>
            <a:xfrm>
              <a:off x="3980" y="8810"/>
              <a:ext cx="10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3" name="矩形 102"/>
            <p:cNvSpPr/>
            <p:nvPr>
              <p:custDataLst>
                <p:tags r:id="rId44"/>
              </p:custDataLst>
            </p:nvPr>
          </p:nvSpPr>
          <p:spPr>
            <a:xfrm>
              <a:off x="3980" y="8518"/>
              <a:ext cx="1077" cy="58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grpSp>
          <p:nvGrpSpPr>
            <p:cNvPr id="156" name="组合 155"/>
            <p:cNvGrpSpPr/>
            <p:nvPr/>
          </p:nvGrpSpPr>
          <p:grpSpPr>
            <a:xfrm>
              <a:off x="4235" y="8549"/>
              <a:ext cx="566" cy="224"/>
              <a:chOff x="2051" y="7635"/>
              <a:chExt cx="566" cy="224"/>
            </a:xfrm>
          </p:grpSpPr>
          <p:sp>
            <p:nvSpPr>
              <p:cNvPr id="157" name="圆角矩形 156"/>
              <p:cNvSpPr/>
              <p:nvPr/>
            </p:nvSpPr>
            <p:spPr>
              <a:xfrm>
                <a:off x="2051" y="7635"/>
                <a:ext cx="567" cy="225"/>
              </a:xfrm>
              <a:prstGeom prst="roundRect">
                <a:avLst/>
              </a:prstGeom>
              <a:solidFill>
                <a:srgbClr val="60A5FA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58" name="直接连接符 157"/>
              <p:cNvCxnSpPr/>
              <p:nvPr/>
            </p:nvCxnSpPr>
            <p:spPr>
              <a:xfrm>
                <a:off x="2121" y="7748"/>
                <a:ext cx="283" cy="0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59" name="椭圆 158"/>
              <p:cNvSpPr/>
              <p:nvPr/>
            </p:nvSpPr>
            <p:spPr>
              <a:xfrm>
                <a:off x="2506" y="7719"/>
                <a:ext cx="57" cy="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90" name="组合 189"/>
          <p:cNvGrpSpPr/>
          <p:nvPr/>
        </p:nvGrpSpPr>
        <p:grpSpPr>
          <a:xfrm rot="0">
            <a:off x="2570480" y="3833495"/>
            <a:ext cx="774700" cy="624205"/>
            <a:chOff x="3908" y="9215"/>
            <a:chExt cx="1220" cy="983"/>
          </a:xfrm>
        </p:grpSpPr>
        <p:sp>
          <p:nvSpPr>
            <p:cNvPr id="106" name="文本框 105"/>
            <p:cNvSpPr txBox="1"/>
            <p:nvPr/>
          </p:nvSpPr>
          <p:spPr>
            <a:xfrm>
              <a:off x="3908" y="9215"/>
              <a:ext cx="1220" cy="3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>
                  <a:latin typeface="Arial" panose="020B0604020202090204" pitchFamily="34" charset="0"/>
                  <a:ea typeface="微软雅黑" charset="-122"/>
                  <a:cs typeface="Arial" panose="020B0604020202090204" pitchFamily="34" charset="0"/>
                </a:rPr>
                <a:t>Rack 3</a:t>
              </a:r>
              <a:endPara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endParaRPr>
            </a:p>
          </p:txBody>
        </p:sp>
        <p:cxnSp>
          <p:nvCxnSpPr>
            <p:cNvPr id="108" name="直接连接符 107"/>
            <p:cNvCxnSpPr/>
            <p:nvPr>
              <p:custDataLst>
                <p:tags r:id="rId45"/>
              </p:custDataLst>
            </p:nvPr>
          </p:nvCxnSpPr>
          <p:spPr>
            <a:xfrm>
              <a:off x="3980" y="9906"/>
              <a:ext cx="10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9" name="矩形 108"/>
            <p:cNvSpPr/>
            <p:nvPr>
              <p:custDataLst>
                <p:tags r:id="rId46"/>
              </p:custDataLst>
            </p:nvPr>
          </p:nvSpPr>
          <p:spPr>
            <a:xfrm>
              <a:off x="3980" y="9614"/>
              <a:ext cx="1077" cy="58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grpSp>
          <p:nvGrpSpPr>
            <p:cNvPr id="161" name="组合 160"/>
            <p:cNvGrpSpPr/>
            <p:nvPr/>
          </p:nvGrpSpPr>
          <p:grpSpPr>
            <a:xfrm>
              <a:off x="4235" y="9650"/>
              <a:ext cx="566" cy="224"/>
              <a:chOff x="2051" y="7635"/>
              <a:chExt cx="566" cy="224"/>
            </a:xfrm>
          </p:grpSpPr>
          <p:sp>
            <p:nvSpPr>
              <p:cNvPr id="162" name="圆角矩形 161"/>
              <p:cNvSpPr/>
              <p:nvPr/>
            </p:nvSpPr>
            <p:spPr>
              <a:xfrm>
                <a:off x="2051" y="7635"/>
                <a:ext cx="567" cy="225"/>
              </a:xfrm>
              <a:prstGeom prst="roundRect">
                <a:avLst/>
              </a:prstGeom>
              <a:solidFill>
                <a:srgbClr val="60A5FA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63" name="直接连接符 162"/>
              <p:cNvCxnSpPr/>
              <p:nvPr/>
            </p:nvCxnSpPr>
            <p:spPr>
              <a:xfrm>
                <a:off x="2121" y="7748"/>
                <a:ext cx="283" cy="0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68" name="椭圆 167"/>
              <p:cNvSpPr/>
              <p:nvPr/>
            </p:nvSpPr>
            <p:spPr>
              <a:xfrm>
                <a:off x="2506" y="7719"/>
                <a:ext cx="57" cy="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89" name="组合 188"/>
          <p:cNvGrpSpPr/>
          <p:nvPr/>
        </p:nvGrpSpPr>
        <p:grpSpPr>
          <a:xfrm rot="0">
            <a:off x="4246880" y="2827020"/>
            <a:ext cx="774700" cy="1403985"/>
            <a:chOff x="7610" y="7537"/>
            <a:chExt cx="1220" cy="2211"/>
          </a:xfrm>
        </p:grpSpPr>
        <p:sp>
          <p:nvSpPr>
            <p:cNvPr id="111" name="文本框 110"/>
            <p:cNvSpPr txBox="1"/>
            <p:nvPr/>
          </p:nvSpPr>
          <p:spPr>
            <a:xfrm>
              <a:off x="7610" y="7537"/>
              <a:ext cx="1220" cy="3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>
                  <a:latin typeface="Arial" panose="020B0604020202090204" pitchFamily="34" charset="0"/>
                  <a:ea typeface="微软雅黑" charset="-122"/>
                  <a:cs typeface="Arial" panose="020B0604020202090204" pitchFamily="34" charset="0"/>
                </a:rPr>
                <a:t>Rack 4</a:t>
              </a:r>
              <a:endPara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endParaRPr>
            </a:p>
          </p:txBody>
        </p:sp>
        <p:cxnSp>
          <p:nvCxnSpPr>
            <p:cNvPr id="113" name="直接连接符 112"/>
            <p:cNvCxnSpPr/>
            <p:nvPr>
              <p:custDataLst>
                <p:tags r:id="rId47"/>
              </p:custDataLst>
            </p:nvPr>
          </p:nvCxnSpPr>
          <p:spPr>
            <a:xfrm>
              <a:off x="7682" y="8228"/>
              <a:ext cx="10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4" name="矩形 113"/>
            <p:cNvSpPr/>
            <p:nvPr>
              <p:custDataLst>
                <p:tags r:id="rId48"/>
              </p:custDataLst>
            </p:nvPr>
          </p:nvSpPr>
          <p:spPr>
            <a:xfrm>
              <a:off x="7682" y="7936"/>
              <a:ext cx="1077" cy="181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15" name="矩形 114"/>
            <p:cNvSpPr/>
            <p:nvPr>
              <p:custDataLst>
                <p:tags r:id="rId49"/>
              </p:custDataLst>
            </p:nvPr>
          </p:nvSpPr>
          <p:spPr>
            <a:xfrm>
              <a:off x="8022" y="8309"/>
              <a:ext cx="397" cy="397"/>
            </a:xfrm>
            <a:prstGeom prst="rect">
              <a:avLst/>
            </a:prstGeom>
            <a:solidFill>
              <a:srgbClr val="7FBA0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16" name="矩形 115"/>
            <p:cNvSpPr/>
            <p:nvPr>
              <p:custDataLst>
                <p:tags r:id="rId50"/>
              </p:custDataLst>
            </p:nvPr>
          </p:nvSpPr>
          <p:spPr>
            <a:xfrm>
              <a:off x="8022" y="8782"/>
              <a:ext cx="397" cy="397"/>
            </a:xfrm>
            <a:prstGeom prst="rect">
              <a:avLst/>
            </a:prstGeom>
            <a:solidFill>
              <a:srgbClr val="FFB90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5" name="矩形 4"/>
            <p:cNvSpPr/>
            <p:nvPr>
              <p:custDataLst>
                <p:tags r:id="rId51"/>
              </p:custDataLst>
            </p:nvPr>
          </p:nvSpPr>
          <p:spPr>
            <a:xfrm>
              <a:off x="8022" y="9255"/>
              <a:ext cx="397" cy="397"/>
            </a:xfrm>
            <a:prstGeom prst="rect">
              <a:avLst/>
            </a:prstGeom>
            <a:solidFill>
              <a:srgbClr val="00A4E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grpSp>
          <p:nvGrpSpPr>
            <p:cNvPr id="169" name="组合 168"/>
            <p:cNvGrpSpPr/>
            <p:nvPr/>
          </p:nvGrpSpPr>
          <p:grpSpPr>
            <a:xfrm>
              <a:off x="7937" y="7967"/>
              <a:ext cx="566" cy="224"/>
              <a:chOff x="2051" y="7635"/>
              <a:chExt cx="566" cy="224"/>
            </a:xfrm>
          </p:grpSpPr>
          <p:sp>
            <p:nvSpPr>
              <p:cNvPr id="170" name="圆角矩形 169"/>
              <p:cNvSpPr/>
              <p:nvPr/>
            </p:nvSpPr>
            <p:spPr>
              <a:xfrm>
                <a:off x="2051" y="7635"/>
                <a:ext cx="567" cy="225"/>
              </a:xfrm>
              <a:prstGeom prst="roundRect">
                <a:avLst/>
              </a:prstGeom>
              <a:solidFill>
                <a:srgbClr val="60A5FA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71" name="直接连接符 170"/>
              <p:cNvCxnSpPr/>
              <p:nvPr/>
            </p:nvCxnSpPr>
            <p:spPr>
              <a:xfrm>
                <a:off x="2121" y="7748"/>
                <a:ext cx="283" cy="0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72" name="椭圆 171"/>
              <p:cNvSpPr/>
              <p:nvPr/>
            </p:nvSpPr>
            <p:spPr>
              <a:xfrm>
                <a:off x="2506" y="7719"/>
                <a:ext cx="57" cy="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sp>
        <p:nvSpPr>
          <p:cNvPr id="391" name="右大括号 390"/>
          <p:cNvSpPr/>
          <p:nvPr/>
        </p:nvSpPr>
        <p:spPr>
          <a:xfrm rot="5400000">
            <a:off x="2903855" y="4203065"/>
            <a:ext cx="107950" cy="683895"/>
          </a:xfrm>
          <a:prstGeom prst="rightBrace">
            <a:avLst>
              <a:gd name="adj1" fmla="val 23699"/>
              <a:gd name="adj2" fmla="val 5004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3" name="右大括号 192"/>
          <p:cNvSpPr/>
          <p:nvPr/>
        </p:nvSpPr>
        <p:spPr>
          <a:xfrm rot="5400000">
            <a:off x="4578985" y="4203065"/>
            <a:ext cx="107950" cy="683895"/>
          </a:xfrm>
          <a:prstGeom prst="rightBrace">
            <a:avLst>
              <a:gd name="adj1" fmla="val 23699"/>
              <a:gd name="adj2" fmla="val 5004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4" name="右大括号 193"/>
          <p:cNvSpPr/>
          <p:nvPr/>
        </p:nvSpPr>
        <p:spPr>
          <a:xfrm rot="5400000">
            <a:off x="3741420" y="4095115"/>
            <a:ext cx="107950" cy="899795"/>
          </a:xfrm>
          <a:prstGeom prst="rightBrace">
            <a:avLst>
              <a:gd name="adj1" fmla="val 23699"/>
              <a:gd name="adj2" fmla="val 5004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5" name="直接连接符 194"/>
          <p:cNvCxnSpPr/>
          <p:nvPr/>
        </p:nvCxnSpPr>
        <p:spPr>
          <a:xfrm>
            <a:off x="3300095" y="3082290"/>
            <a:ext cx="1208405" cy="380365"/>
          </a:xfrm>
          <a:prstGeom prst="line">
            <a:avLst/>
          </a:prstGeom>
          <a:ln>
            <a:solidFill>
              <a:srgbClr val="7FBA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6" name="直接连接符 195"/>
          <p:cNvCxnSpPr/>
          <p:nvPr/>
        </p:nvCxnSpPr>
        <p:spPr>
          <a:xfrm>
            <a:off x="3300095" y="3164840"/>
            <a:ext cx="1208405" cy="380365"/>
          </a:xfrm>
          <a:prstGeom prst="line">
            <a:avLst/>
          </a:prstGeom>
          <a:ln>
            <a:solidFill>
              <a:srgbClr val="7FBA00"/>
            </a:solidFill>
            <a:prstDash val="lgDashDot"/>
            <a:head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7" name="直接连接符 196"/>
          <p:cNvCxnSpPr/>
          <p:nvPr/>
        </p:nvCxnSpPr>
        <p:spPr>
          <a:xfrm>
            <a:off x="3300095" y="3686810"/>
            <a:ext cx="1208405" cy="76200"/>
          </a:xfrm>
          <a:prstGeom prst="line">
            <a:avLst/>
          </a:prstGeom>
          <a:ln>
            <a:solidFill>
              <a:srgbClr val="FFB9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8" name="直接连接符 197"/>
          <p:cNvCxnSpPr/>
          <p:nvPr/>
        </p:nvCxnSpPr>
        <p:spPr>
          <a:xfrm>
            <a:off x="3300095" y="3769995"/>
            <a:ext cx="1208405" cy="76200"/>
          </a:xfrm>
          <a:prstGeom prst="line">
            <a:avLst/>
          </a:prstGeom>
          <a:ln>
            <a:solidFill>
              <a:srgbClr val="FFB900"/>
            </a:solidFill>
            <a:prstDash val="lgDashDot"/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9" name="直接连接符 198"/>
          <p:cNvCxnSpPr/>
          <p:nvPr/>
        </p:nvCxnSpPr>
        <p:spPr>
          <a:xfrm flipV="1">
            <a:off x="3300095" y="4064635"/>
            <a:ext cx="1208405" cy="227965"/>
          </a:xfrm>
          <a:prstGeom prst="line">
            <a:avLst/>
          </a:prstGeom>
          <a:ln>
            <a:solidFill>
              <a:srgbClr val="00A4EF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0" name="直接连接符 199"/>
          <p:cNvCxnSpPr/>
          <p:nvPr/>
        </p:nvCxnSpPr>
        <p:spPr>
          <a:xfrm flipV="1">
            <a:off x="3300095" y="4146550"/>
            <a:ext cx="1208405" cy="227965"/>
          </a:xfrm>
          <a:prstGeom prst="line">
            <a:avLst/>
          </a:prstGeom>
          <a:ln>
            <a:solidFill>
              <a:srgbClr val="00A4EF"/>
            </a:solidFill>
            <a:prstDash val="lgDashDot"/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2" name="文本框 201"/>
          <p:cNvSpPr txBox="1"/>
          <p:nvPr/>
        </p:nvSpPr>
        <p:spPr>
          <a:xfrm>
            <a:off x="6945948" y="4963795"/>
            <a:ext cx="659765" cy="253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(c)</a:t>
            </a:r>
            <a:endParaRPr lang="en-US" altLang="zh-CN" sz="1400"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292725" y="2672715"/>
            <a:ext cx="3966210" cy="2219325"/>
            <a:chOff x="8030" y="7229"/>
            <a:chExt cx="6246" cy="3495"/>
          </a:xfrm>
        </p:grpSpPr>
        <p:sp>
          <p:nvSpPr>
            <p:cNvPr id="206" name="矩形 205"/>
            <p:cNvSpPr/>
            <p:nvPr>
              <p:custDataLst>
                <p:tags r:id="rId52"/>
              </p:custDataLst>
            </p:nvPr>
          </p:nvSpPr>
          <p:spPr>
            <a:xfrm>
              <a:off x="9874" y="8025"/>
              <a:ext cx="2665" cy="1871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2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>
                  <a:latin typeface="Arial" panose="020B0604020202090204" pitchFamily="34" charset="0"/>
                  <a:cs typeface="Arial" panose="020B0604020202090204" pitchFamily="34" charset="0"/>
                </a:rPr>
                <a:t>\</a:t>
              </a:r>
              <a:endParaRPr lang="en-US" altLang="zh-CN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45" name="圆角矩形标注 244"/>
            <p:cNvSpPr/>
            <p:nvPr/>
          </p:nvSpPr>
          <p:spPr>
            <a:xfrm>
              <a:off x="8030" y="7439"/>
              <a:ext cx="1556" cy="574"/>
            </a:xfrm>
            <a:prstGeom prst="wedgeRoundRectCallout">
              <a:avLst>
                <a:gd name="adj1" fmla="val 28769"/>
                <a:gd name="adj2" fmla="val 102264"/>
                <a:gd name="adj3" fmla="val 16667"/>
              </a:avLst>
            </a:prstGeom>
            <a:solidFill>
              <a:schemeClr val="bg1"/>
            </a:solidFill>
            <a:ln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 i="1">
                  <a:solidFill>
                    <a:schemeClr val="tx1"/>
                  </a:solidFill>
                </a:rPr>
                <a:t>2 ports per ToR</a:t>
              </a:r>
              <a:endParaRPr lang="en-US" altLang="zh-CN" sz="1200" i="1">
                <a:solidFill>
                  <a:schemeClr val="tx1"/>
                </a:solidFill>
              </a:endParaRPr>
            </a:p>
          </p:txBody>
        </p:sp>
        <p:pic>
          <p:nvPicPr>
            <p:cNvPr id="242" name="图片 241" descr="不满足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11400" y="9258"/>
              <a:ext cx="312" cy="312"/>
            </a:xfrm>
            <a:prstGeom prst="rect">
              <a:avLst/>
            </a:prstGeom>
          </p:spPr>
        </p:pic>
        <p:pic>
          <p:nvPicPr>
            <p:cNvPr id="243" name="图片 242" descr="已满足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/>
            </a:stretch>
          </p:blipFill>
          <p:spPr>
            <a:xfrm>
              <a:off x="11813" y="8350"/>
              <a:ext cx="283" cy="283"/>
            </a:xfrm>
            <a:prstGeom prst="rect">
              <a:avLst/>
            </a:prstGeom>
          </p:spPr>
        </p:pic>
        <p:pic>
          <p:nvPicPr>
            <p:cNvPr id="244" name="图片 243" descr="已满足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/>
            </a:stretch>
          </p:blipFill>
          <p:spPr>
            <a:xfrm>
              <a:off x="11316" y="8540"/>
              <a:ext cx="283" cy="283"/>
            </a:xfrm>
            <a:prstGeom prst="rect">
              <a:avLst/>
            </a:prstGeom>
          </p:spPr>
        </p:pic>
        <p:sp>
          <p:nvSpPr>
            <p:cNvPr id="205" name="文本框 204"/>
            <p:cNvSpPr txBox="1"/>
            <p:nvPr/>
          </p:nvSpPr>
          <p:spPr>
            <a:xfrm>
              <a:off x="9595" y="7312"/>
              <a:ext cx="1220" cy="3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>
                  <a:latin typeface="Arial" panose="020B0604020202090204" pitchFamily="34" charset="0"/>
                  <a:ea typeface="微软雅黑" charset="-122"/>
                  <a:cs typeface="Arial" panose="020B0604020202090204" pitchFamily="34" charset="0"/>
                </a:rPr>
                <a:t>Rack 1</a:t>
              </a:r>
              <a:endPara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endParaRPr>
            </a:p>
          </p:txBody>
        </p:sp>
        <p:grpSp>
          <p:nvGrpSpPr>
            <p:cNvPr id="247" name="组合 246"/>
            <p:cNvGrpSpPr/>
            <p:nvPr/>
          </p:nvGrpSpPr>
          <p:grpSpPr>
            <a:xfrm rot="0">
              <a:off x="10668" y="7231"/>
              <a:ext cx="1076" cy="793"/>
              <a:chOff x="10728" y="7231"/>
              <a:chExt cx="1076" cy="793"/>
            </a:xfrm>
          </p:grpSpPr>
          <p:cxnSp>
            <p:nvCxnSpPr>
              <p:cNvPr id="203" name="直接连接符 202"/>
              <p:cNvCxnSpPr/>
              <p:nvPr>
                <p:custDataLst>
                  <p:tags r:id="rId55"/>
                </p:custDataLst>
              </p:nvPr>
            </p:nvCxnSpPr>
            <p:spPr>
              <a:xfrm>
                <a:off x="10728" y="7523"/>
                <a:ext cx="10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04" name="矩形 203"/>
              <p:cNvSpPr/>
              <p:nvPr>
                <p:custDataLst>
                  <p:tags r:id="rId56"/>
                </p:custDataLst>
              </p:nvPr>
            </p:nvSpPr>
            <p:spPr>
              <a:xfrm>
                <a:off x="10728" y="7231"/>
                <a:ext cx="1077" cy="56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grpSp>
            <p:nvGrpSpPr>
              <p:cNvPr id="6" name="组合 5"/>
              <p:cNvGrpSpPr/>
              <p:nvPr/>
            </p:nvGrpSpPr>
            <p:grpSpPr>
              <a:xfrm rot="0">
                <a:off x="10762" y="7800"/>
                <a:ext cx="1009" cy="225"/>
                <a:chOff x="10767" y="7968"/>
                <a:chExt cx="1009" cy="225"/>
              </a:xfrm>
            </p:grpSpPr>
            <p:sp>
              <p:nvSpPr>
                <p:cNvPr id="217" name="椭圆 216"/>
                <p:cNvSpPr/>
                <p:nvPr/>
              </p:nvSpPr>
              <p:spPr>
                <a:xfrm rot="5400000">
                  <a:off x="10767" y="7968"/>
                  <a:ext cx="113" cy="113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200">
                    <a:latin typeface="Arial" panose="020B0604020202090204" pitchFamily="34" charset="0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218" name="椭圆 217"/>
                <p:cNvSpPr/>
                <p:nvPr/>
              </p:nvSpPr>
              <p:spPr>
                <a:xfrm rot="5400000">
                  <a:off x="11664" y="7968"/>
                  <a:ext cx="113" cy="113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200">
                    <a:latin typeface="Arial" panose="020B0604020202090204" pitchFamily="34" charset="0"/>
                    <a:cs typeface="Arial" panose="020B0604020202090204" pitchFamily="34" charset="0"/>
                  </a:endParaRPr>
                </a:p>
              </p:txBody>
            </p:sp>
            <p:cxnSp>
              <p:nvCxnSpPr>
                <p:cNvPr id="235" name="直接连接符 234"/>
                <p:cNvCxnSpPr/>
                <p:nvPr/>
              </p:nvCxnSpPr>
              <p:spPr>
                <a:xfrm flipV="1">
                  <a:off x="10820" y="8081"/>
                  <a:ext cx="3" cy="11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headEnd type="oval" w="sm" len="sm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直接连接符 235"/>
                <p:cNvCxnSpPr/>
                <p:nvPr/>
              </p:nvCxnSpPr>
              <p:spPr>
                <a:xfrm flipV="1">
                  <a:off x="11717" y="8081"/>
                  <a:ext cx="3" cy="11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headEnd type="oval" w="sm" len="sm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组合 249"/>
              <p:cNvGrpSpPr/>
              <p:nvPr/>
            </p:nvGrpSpPr>
            <p:grpSpPr>
              <a:xfrm rot="0">
                <a:off x="10983" y="7265"/>
                <a:ext cx="566" cy="224"/>
                <a:chOff x="2051" y="7635"/>
                <a:chExt cx="566" cy="224"/>
              </a:xfrm>
            </p:grpSpPr>
            <p:sp>
              <p:nvSpPr>
                <p:cNvPr id="251" name="圆角矩形 250"/>
                <p:cNvSpPr/>
                <p:nvPr/>
              </p:nvSpPr>
              <p:spPr>
                <a:xfrm>
                  <a:off x="2051" y="7635"/>
                  <a:ext cx="567" cy="225"/>
                </a:xfrm>
                <a:prstGeom prst="roundRect">
                  <a:avLst/>
                </a:prstGeom>
                <a:solidFill>
                  <a:srgbClr val="60A5FA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252" name="直接连接符 251"/>
                <p:cNvCxnSpPr/>
                <p:nvPr/>
              </p:nvCxnSpPr>
              <p:spPr>
                <a:xfrm>
                  <a:off x="2121" y="7748"/>
                  <a:ext cx="283" cy="0"/>
                </a:xfrm>
                <a:prstGeom prst="line">
                  <a:avLst/>
                </a:prstGeom>
                <a:ln w="2540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253" name="椭圆 252"/>
                <p:cNvSpPr/>
                <p:nvPr/>
              </p:nvSpPr>
              <p:spPr>
                <a:xfrm>
                  <a:off x="2506" y="7719"/>
                  <a:ext cx="57" cy="5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48" name="文本框 47"/>
            <p:cNvSpPr txBox="1"/>
            <p:nvPr/>
          </p:nvSpPr>
          <p:spPr>
            <a:xfrm>
              <a:off x="9588" y="10175"/>
              <a:ext cx="1220" cy="3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>
                  <a:latin typeface="Arial" panose="020B0604020202090204" pitchFamily="34" charset="0"/>
                  <a:ea typeface="微软雅黑" charset="-122"/>
                  <a:cs typeface="Arial" panose="020B0604020202090204" pitchFamily="34" charset="0"/>
                </a:rPr>
                <a:t>Rack 3</a:t>
              </a:r>
              <a:endPara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endParaRPr>
            </a:p>
          </p:txBody>
        </p:sp>
        <p:grpSp>
          <p:nvGrpSpPr>
            <p:cNvPr id="167" name="组合 166"/>
            <p:cNvGrpSpPr/>
            <p:nvPr/>
          </p:nvGrpSpPr>
          <p:grpSpPr>
            <a:xfrm rot="0">
              <a:off x="10668" y="9896"/>
              <a:ext cx="1076" cy="793"/>
              <a:chOff x="10728" y="9896"/>
              <a:chExt cx="1076" cy="793"/>
            </a:xfrm>
          </p:grpSpPr>
          <p:cxnSp>
            <p:nvCxnSpPr>
              <p:cNvPr id="36" name="直接连接符 35"/>
              <p:cNvCxnSpPr/>
              <p:nvPr>
                <p:custDataLst>
                  <p:tags r:id="rId57"/>
                </p:custDataLst>
              </p:nvPr>
            </p:nvCxnSpPr>
            <p:spPr>
              <a:xfrm rot="10800000">
                <a:off x="10728" y="10398"/>
                <a:ext cx="10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9" name="矩形 38"/>
              <p:cNvSpPr/>
              <p:nvPr>
                <p:custDataLst>
                  <p:tags r:id="rId58"/>
                </p:custDataLst>
              </p:nvPr>
            </p:nvSpPr>
            <p:spPr>
              <a:xfrm rot="10800000">
                <a:off x="10728" y="10123"/>
                <a:ext cx="1077" cy="56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grpSp>
            <p:nvGrpSpPr>
              <p:cNvPr id="57" name="组合 56"/>
              <p:cNvGrpSpPr/>
              <p:nvPr/>
            </p:nvGrpSpPr>
            <p:grpSpPr>
              <a:xfrm rot="10800000">
                <a:off x="10762" y="9896"/>
                <a:ext cx="1009" cy="225"/>
                <a:chOff x="10767" y="7968"/>
                <a:chExt cx="1009" cy="225"/>
              </a:xfrm>
            </p:grpSpPr>
            <p:sp>
              <p:nvSpPr>
                <p:cNvPr id="64" name="椭圆 63"/>
                <p:cNvSpPr/>
                <p:nvPr/>
              </p:nvSpPr>
              <p:spPr>
                <a:xfrm rot="5400000">
                  <a:off x="10767" y="7968"/>
                  <a:ext cx="113" cy="113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200">
                    <a:latin typeface="Arial" panose="020B0604020202090204" pitchFamily="34" charset="0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66" name="椭圆 65"/>
                <p:cNvSpPr/>
                <p:nvPr/>
              </p:nvSpPr>
              <p:spPr>
                <a:xfrm rot="5400000">
                  <a:off x="11664" y="7968"/>
                  <a:ext cx="113" cy="113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200">
                    <a:latin typeface="Arial" panose="020B0604020202090204" pitchFamily="34" charset="0"/>
                    <a:cs typeface="Arial" panose="020B0604020202090204" pitchFamily="34" charset="0"/>
                  </a:endParaRPr>
                </a:p>
              </p:txBody>
            </p:sp>
            <p:cxnSp>
              <p:nvCxnSpPr>
                <p:cNvPr id="69" name="直接连接符 68"/>
                <p:cNvCxnSpPr/>
                <p:nvPr/>
              </p:nvCxnSpPr>
              <p:spPr>
                <a:xfrm flipV="1">
                  <a:off x="10820" y="8081"/>
                  <a:ext cx="3" cy="11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headEnd type="oval" w="sm" len="sm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接连接符 70"/>
                <p:cNvCxnSpPr/>
                <p:nvPr/>
              </p:nvCxnSpPr>
              <p:spPr>
                <a:xfrm flipV="1">
                  <a:off x="11717" y="8081"/>
                  <a:ext cx="3" cy="11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headEnd type="oval" w="sm" len="sm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5" name="组合 74"/>
              <p:cNvGrpSpPr/>
              <p:nvPr/>
            </p:nvGrpSpPr>
            <p:grpSpPr>
              <a:xfrm rot="10800000">
                <a:off x="10984" y="10432"/>
                <a:ext cx="566" cy="224"/>
                <a:chOff x="2051" y="7635"/>
                <a:chExt cx="566" cy="224"/>
              </a:xfrm>
            </p:grpSpPr>
            <p:sp>
              <p:nvSpPr>
                <p:cNvPr id="91" name="圆角矩形 90"/>
                <p:cNvSpPr/>
                <p:nvPr/>
              </p:nvSpPr>
              <p:spPr>
                <a:xfrm>
                  <a:off x="2051" y="7635"/>
                  <a:ext cx="567" cy="225"/>
                </a:xfrm>
                <a:prstGeom prst="roundRect">
                  <a:avLst/>
                </a:prstGeom>
                <a:solidFill>
                  <a:srgbClr val="60A5FA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96" name="直接连接符 95"/>
                <p:cNvCxnSpPr/>
                <p:nvPr/>
              </p:nvCxnSpPr>
              <p:spPr>
                <a:xfrm>
                  <a:off x="2121" y="7748"/>
                  <a:ext cx="283" cy="0"/>
                </a:xfrm>
                <a:prstGeom prst="line">
                  <a:avLst/>
                </a:prstGeom>
                <a:ln w="2540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99" name="椭圆 98"/>
                <p:cNvSpPr/>
                <p:nvPr/>
              </p:nvSpPr>
              <p:spPr>
                <a:xfrm>
                  <a:off x="2506" y="7719"/>
                  <a:ext cx="57" cy="5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7" name="组合 6"/>
            <p:cNvGrpSpPr/>
            <p:nvPr/>
          </p:nvGrpSpPr>
          <p:grpSpPr>
            <a:xfrm rot="5400000">
              <a:off x="12529" y="8364"/>
              <a:ext cx="1220" cy="1192"/>
              <a:chOff x="10656" y="7000"/>
              <a:chExt cx="1220" cy="1192"/>
            </a:xfrm>
          </p:grpSpPr>
          <p:cxnSp>
            <p:nvCxnSpPr>
              <p:cNvPr id="9" name="直接连接符 8"/>
              <p:cNvCxnSpPr/>
              <p:nvPr>
                <p:custDataLst>
                  <p:tags r:id="rId59"/>
                </p:custDataLst>
              </p:nvPr>
            </p:nvCxnSpPr>
            <p:spPr>
              <a:xfrm>
                <a:off x="10728" y="7691"/>
                <a:ext cx="10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3" name="矩形 12"/>
              <p:cNvSpPr/>
              <p:nvPr>
                <p:custDataLst>
                  <p:tags r:id="rId60"/>
                </p:custDataLst>
              </p:nvPr>
            </p:nvSpPr>
            <p:spPr>
              <a:xfrm>
                <a:off x="10728" y="7399"/>
                <a:ext cx="1077" cy="56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10656" y="7000"/>
                <a:ext cx="1220" cy="39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>
                    <a:latin typeface="Arial" panose="020B0604020202090204" pitchFamily="34" charset="0"/>
                    <a:ea typeface="微软雅黑" charset="-122"/>
                    <a:cs typeface="Arial" panose="020B0604020202090204" pitchFamily="34" charset="0"/>
                  </a:rPr>
                  <a:t>Rack 4</a:t>
                </a:r>
                <a:endParaRPr lang="en-US" altLang="zh-CN" sz="1200">
                  <a:latin typeface="Arial" panose="020B0604020202090204" pitchFamily="34" charset="0"/>
                  <a:ea typeface="微软雅黑" charset="-122"/>
                  <a:cs typeface="Arial" panose="020B0604020202090204" pitchFamily="34" charset="0"/>
                </a:endParaRPr>
              </a:p>
            </p:txBody>
          </p:sp>
          <p:grpSp>
            <p:nvGrpSpPr>
              <p:cNvPr id="16" name="组合 15"/>
              <p:cNvGrpSpPr/>
              <p:nvPr/>
            </p:nvGrpSpPr>
            <p:grpSpPr>
              <a:xfrm>
                <a:off x="10762" y="7968"/>
                <a:ext cx="1009" cy="225"/>
                <a:chOff x="10767" y="7968"/>
                <a:chExt cx="1009" cy="225"/>
              </a:xfrm>
            </p:grpSpPr>
            <p:sp>
              <p:nvSpPr>
                <p:cNvPr id="20" name="椭圆 19"/>
                <p:cNvSpPr/>
                <p:nvPr/>
              </p:nvSpPr>
              <p:spPr>
                <a:xfrm rot="5400000">
                  <a:off x="10767" y="7968"/>
                  <a:ext cx="113" cy="113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200">
                    <a:latin typeface="Arial" panose="020B0604020202090204" pitchFamily="34" charset="0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28" name="椭圆 27"/>
                <p:cNvSpPr/>
                <p:nvPr/>
              </p:nvSpPr>
              <p:spPr>
                <a:xfrm rot="5400000">
                  <a:off x="11664" y="7968"/>
                  <a:ext cx="113" cy="113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200">
                    <a:latin typeface="Arial" panose="020B0604020202090204" pitchFamily="34" charset="0"/>
                    <a:cs typeface="Arial" panose="020B0604020202090204" pitchFamily="34" charset="0"/>
                  </a:endParaRPr>
                </a:p>
              </p:txBody>
            </p:sp>
            <p:cxnSp>
              <p:nvCxnSpPr>
                <p:cNvPr id="29" name="直接连接符 28"/>
                <p:cNvCxnSpPr/>
                <p:nvPr/>
              </p:nvCxnSpPr>
              <p:spPr>
                <a:xfrm flipV="1">
                  <a:off x="10820" y="8081"/>
                  <a:ext cx="3" cy="11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headEnd type="oval" w="sm" len="sm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/>
                <p:cNvCxnSpPr/>
                <p:nvPr/>
              </p:nvCxnSpPr>
              <p:spPr>
                <a:xfrm flipV="1">
                  <a:off x="11717" y="8081"/>
                  <a:ext cx="3" cy="11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headEnd type="oval" w="sm" len="sm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" name="组合 30"/>
              <p:cNvGrpSpPr/>
              <p:nvPr/>
            </p:nvGrpSpPr>
            <p:grpSpPr>
              <a:xfrm rot="0">
                <a:off x="10983" y="7433"/>
                <a:ext cx="566" cy="224"/>
                <a:chOff x="2051" y="7635"/>
                <a:chExt cx="566" cy="224"/>
              </a:xfrm>
            </p:grpSpPr>
            <p:sp>
              <p:nvSpPr>
                <p:cNvPr id="32" name="圆角矩形 31"/>
                <p:cNvSpPr/>
                <p:nvPr/>
              </p:nvSpPr>
              <p:spPr>
                <a:xfrm>
                  <a:off x="2051" y="7635"/>
                  <a:ext cx="567" cy="225"/>
                </a:xfrm>
                <a:prstGeom prst="roundRect">
                  <a:avLst/>
                </a:prstGeom>
                <a:solidFill>
                  <a:srgbClr val="60A5FA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33" name="直接连接符 32"/>
                <p:cNvCxnSpPr/>
                <p:nvPr/>
              </p:nvCxnSpPr>
              <p:spPr>
                <a:xfrm>
                  <a:off x="2121" y="7748"/>
                  <a:ext cx="283" cy="0"/>
                </a:xfrm>
                <a:prstGeom prst="line">
                  <a:avLst/>
                </a:prstGeom>
                <a:ln w="2540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34" name="椭圆 33"/>
                <p:cNvSpPr/>
                <p:nvPr/>
              </p:nvSpPr>
              <p:spPr>
                <a:xfrm>
                  <a:off x="2506" y="7719"/>
                  <a:ext cx="57" cy="5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101" name="组合 100"/>
            <p:cNvGrpSpPr/>
            <p:nvPr/>
          </p:nvGrpSpPr>
          <p:grpSpPr>
            <a:xfrm rot="16200000">
              <a:off x="8663" y="8364"/>
              <a:ext cx="1220" cy="1192"/>
              <a:chOff x="10656" y="7000"/>
              <a:chExt cx="1220" cy="1192"/>
            </a:xfrm>
          </p:grpSpPr>
          <p:cxnSp>
            <p:nvCxnSpPr>
              <p:cNvPr id="104" name="直接连接符 103"/>
              <p:cNvCxnSpPr/>
              <p:nvPr>
                <p:custDataLst>
                  <p:tags r:id="rId61"/>
                </p:custDataLst>
              </p:nvPr>
            </p:nvCxnSpPr>
            <p:spPr>
              <a:xfrm>
                <a:off x="10728" y="7691"/>
                <a:ext cx="10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05" name="矩形 104"/>
              <p:cNvSpPr/>
              <p:nvPr>
                <p:custDataLst>
                  <p:tags r:id="rId62"/>
                </p:custDataLst>
              </p:nvPr>
            </p:nvSpPr>
            <p:spPr>
              <a:xfrm>
                <a:off x="10728" y="7399"/>
                <a:ext cx="1077" cy="56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107" name="文本框 106"/>
              <p:cNvSpPr txBox="1"/>
              <p:nvPr/>
            </p:nvSpPr>
            <p:spPr>
              <a:xfrm>
                <a:off x="10656" y="7000"/>
                <a:ext cx="1220" cy="39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>
                    <a:latin typeface="Arial" panose="020B0604020202090204" pitchFamily="34" charset="0"/>
                    <a:ea typeface="微软雅黑" charset="-122"/>
                    <a:cs typeface="Arial" panose="020B0604020202090204" pitchFamily="34" charset="0"/>
                  </a:rPr>
                  <a:t>Rack 2</a:t>
                </a:r>
                <a:endParaRPr lang="en-US" altLang="zh-CN" sz="1200">
                  <a:latin typeface="Arial" panose="020B0604020202090204" pitchFamily="34" charset="0"/>
                  <a:ea typeface="微软雅黑" charset="-122"/>
                  <a:cs typeface="Arial" panose="020B0604020202090204" pitchFamily="34" charset="0"/>
                </a:endParaRPr>
              </a:p>
            </p:txBody>
          </p:sp>
          <p:grpSp>
            <p:nvGrpSpPr>
              <p:cNvPr id="112" name="组合 111"/>
              <p:cNvGrpSpPr/>
              <p:nvPr/>
            </p:nvGrpSpPr>
            <p:grpSpPr>
              <a:xfrm>
                <a:off x="10762" y="7968"/>
                <a:ext cx="1009" cy="225"/>
                <a:chOff x="10767" y="7968"/>
                <a:chExt cx="1009" cy="225"/>
              </a:xfrm>
            </p:grpSpPr>
            <p:sp>
              <p:nvSpPr>
                <p:cNvPr id="117" name="椭圆 116"/>
                <p:cNvSpPr/>
                <p:nvPr/>
              </p:nvSpPr>
              <p:spPr>
                <a:xfrm rot="5400000">
                  <a:off x="10767" y="7968"/>
                  <a:ext cx="113" cy="113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200">
                    <a:latin typeface="Arial" panose="020B0604020202090204" pitchFamily="34" charset="0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19" name="椭圆 118"/>
                <p:cNvSpPr/>
                <p:nvPr/>
              </p:nvSpPr>
              <p:spPr>
                <a:xfrm rot="5400000">
                  <a:off x="11664" y="7968"/>
                  <a:ext cx="113" cy="113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200">
                    <a:latin typeface="Arial" panose="020B0604020202090204" pitchFamily="34" charset="0"/>
                    <a:cs typeface="Arial" panose="020B0604020202090204" pitchFamily="34" charset="0"/>
                  </a:endParaRPr>
                </a:p>
              </p:txBody>
            </p:sp>
            <p:cxnSp>
              <p:nvCxnSpPr>
                <p:cNvPr id="120" name="直接连接符 119"/>
                <p:cNvCxnSpPr/>
                <p:nvPr/>
              </p:nvCxnSpPr>
              <p:spPr>
                <a:xfrm flipV="1">
                  <a:off x="10820" y="8081"/>
                  <a:ext cx="3" cy="11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headEnd type="oval" w="sm" len="sm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直接连接符 132"/>
                <p:cNvCxnSpPr/>
                <p:nvPr/>
              </p:nvCxnSpPr>
              <p:spPr>
                <a:xfrm flipV="1">
                  <a:off x="11717" y="8081"/>
                  <a:ext cx="3" cy="11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headEnd type="oval" w="sm" len="sm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3" name="组合 142"/>
              <p:cNvGrpSpPr/>
              <p:nvPr/>
            </p:nvGrpSpPr>
            <p:grpSpPr>
              <a:xfrm rot="0">
                <a:off x="10983" y="7433"/>
                <a:ext cx="566" cy="224"/>
                <a:chOff x="2051" y="7635"/>
                <a:chExt cx="566" cy="224"/>
              </a:xfrm>
            </p:grpSpPr>
            <p:sp>
              <p:nvSpPr>
                <p:cNvPr id="144" name="圆角矩形 143"/>
                <p:cNvSpPr/>
                <p:nvPr/>
              </p:nvSpPr>
              <p:spPr>
                <a:xfrm>
                  <a:off x="2051" y="7635"/>
                  <a:ext cx="567" cy="225"/>
                </a:xfrm>
                <a:prstGeom prst="roundRect">
                  <a:avLst/>
                </a:prstGeom>
                <a:solidFill>
                  <a:srgbClr val="60A5FA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145" name="直接连接符 144"/>
                <p:cNvCxnSpPr/>
                <p:nvPr/>
              </p:nvCxnSpPr>
              <p:spPr>
                <a:xfrm>
                  <a:off x="2121" y="7748"/>
                  <a:ext cx="283" cy="0"/>
                </a:xfrm>
                <a:prstGeom prst="line">
                  <a:avLst/>
                </a:prstGeom>
                <a:ln w="2540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46" name="椭圆 145"/>
                <p:cNvSpPr/>
                <p:nvPr/>
              </p:nvSpPr>
              <p:spPr>
                <a:xfrm>
                  <a:off x="2506" y="7719"/>
                  <a:ext cx="57" cy="5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  <p:cxnSp>
          <p:nvCxnSpPr>
            <p:cNvPr id="147" name="直接连接符 146"/>
            <p:cNvCxnSpPr/>
            <p:nvPr/>
          </p:nvCxnSpPr>
          <p:spPr>
            <a:xfrm>
              <a:off x="11662" y="8021"/>
              <a:ext cx="878" cy="485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3" name="直接连接符 152"/>
            <p:cNvCxnSpPr/>
            <p:nvPr/>
          </p:nvCxnSpPr>
          <p:spPr>
            <a:xfrm>
              <a:off x="9872" y="8509"/>
              <a:ext cx="2668" cy="89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71" name="任意多边形 270"/>
            <p:cNvSpPr/>
            <p:nvPr/>
          </p:nvSpPr>
          <p:spPr>
            <a:xfrm>
              <a:off x="11650" y="8022"/>
              <a:ext cx="885" cy="534"/>
            </a:xfrm>
            <a:custGeom>
              <a:avLst/>
              <a:gdLst>
                <a:gd name="connisteX0" fmla="*/ 0 w 561975"/>
                <a:gd name="connsiteY0" fmla="*/ 0 h 338902"/>
                <a:gd name="connisteX1" fmla="*/ 197485 w 561975"/>
                <a:gd name="connsiteY1" fmla="*/ 309245 h 338902"/>
                <a:gd name="connisteX2" fmla="*/ 561975 w 561975"/>
                <a:gd name="connsiteY2" fmla="*/ 306705 h 338902"/>
                <a:gd name="connisteX3" fmla="*/ 683260 w 561975"/>
                <a:gd name="connsiteY3" fmla="*/ 245110 h 33890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561975" h="338902">
                  <a:moveTo>
                    <a:pt x="0" y="0"/>
                  </a:moveTo>
                  <a:cubicBezTo>
                    <a:pt x="32385" y="61595"/>
                    <a:pt x="85090" y="247650"/>
                    <a:pt x="197485" y="309245"/>
                  </a:cubicBezTo>
                  <a:cubicBezTo>
                    <a:pt x="309880" y="370840"/>
                    <a:pt x="464820" y="319405"/>
                    <a:pt x="561975" y="306705"/>
                  </a:cubicBezTo>
                </a:path>
              </a:pathLst>
            </a:custGeom>
            <a:noFill/>
            <a:ln>
              <a:solidFill>
                <a:srgbClr val="7FBA00"/>
              </a:solidFill>
              <a:headEnd type="triangle"/>
              <a:tailEnd type="triangle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6" name="任意多边形 275"/>
            <p:cNvSpPr/>
            <p:nvPr/>
          </p:nvSpPr>
          <p:spPr>
            <a:xfrm>
              <a:off x="9868" y="8508"/>
              <a:ext cx="2667" cy="897"/>
            </a:xfrm>
            <a:custGeom>
              <a:avLst/>
              <a:gdLst>
                <a:gd name="connisteX0" fmla="*/ 0 w 1693545"/>
                <a:gd name="connsiteY0" fmla="*/ 3263 h 569683"/>
                <a:gd name="connisteX1" fmla="*/ 916940 w 1693545"/>
                <a:gd name="connsiteY1" fmla="*/ 79463 h 569683"/>
                <a:gd name="connisteX2" fmla="*/ 1693545 w 1693545"/>
                <a:gd name="connsiteY2" fmla="*/ 569683 h 569683"/>
                <a:gd name="connisteX3" fmla="*/ 1538605 w 1693545"/>
                <a:gd name="connsiteY3" fmla="*/ 710653 h 56968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693545" h="569683">
                  <a:moveTo>
                    <a:pt x="0" y="3263"/>
                  </a:moveTo>
                  <a:cubicBezTo>
                    <a:pt x="167640" y="8978"/>
                    <a:pt x="578485" y="-33567"/>
                    <a:pt x="916940" y="79463"/>
                  </a:cubicBezTo>
                  <a:cubicBezTo>
                    <a:pt x="1255395" y="192493"/>
                    <a:pt x="1569085" y="443318"/>
                    <a:pt x="1693545" y="569683"/>
                  </a:cubicBezTo>
                </a:path>
              </a:pathLst>
            </a:custGeom>
            <a:noFill/>
            <a:ln>
              <a:solidFill>
                <a:srgbClr val="FFB900"/>
              </a:solidFill>
              <a:headEnd type="triangle"/>
              <a:tailEnd type="triangle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2" name="任意多边形 281"/>
            <p:cNvSpPr/>
            <p:nvPr/>
          </p:nvSpPr>
          <p:spPr>
            <a:xfrm>
              <a:off x="10757" y="9345"/>
              <a:ext cx="1781" cy="553"/>
            </a:xfrm>
            <a:custGeom>
              <a:avLst/>
              <a:gdLst>
                <a:gd name="connisteX0" fmla="*/ 0 w 1130935"/>
                <a:gd name="connsiteY0" fmla="*/ 351269 h 351269"/>
                <a:gd name="connisteX1" fmla="*/ 521335 w 1130935"/>
                <a:gd name="connsiteY1" fmla="*/ 39484 h 351269"/>
                <a:gd name="connisteX2" fmla="*/ 1130935 w 1130935"/>
                <a:gd name="connsiteY2" fmla="*/ 36944 h 351269"/>
                <a:gd name="connisteX3" fmla="*/ 1450340 w 1130935"/>
                <a:gd name="connsiteY3" fmla="*/ 229984 h 35126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130935" h="351269">
                  <a:moveTo>
                    <a:pt x="0" y="351269"/>
                  </a:moveTo>
                  <a:cubicBezTo>
                    <a:pt x="92075" y="289039"/>
                    <a:pt x="295275" y="102349"/>
                    <a:pt x="521335" y="39484"/>
                  </a:cubicBezTo>
                  <a:cubicBezTo>
                    <a:pt x="747395" y="-23381"/>
                    <a:pt x="944880" y="-1156"/>
                    <a:pt x="1130935" y="36944"/>
                  </a:cubicBezTo>
                </a:path>
              </a:pathLst>
            </a:custGeom>
            <a:noFill/>
            <a:ln>
              <a:solidFill>
                <a:srgbClr val="00A4EF"/>
              </a:solidFill>
              <a:headEnd type="triangle"/>
              <a:tailEnd type="triangle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6" name="文本框 285"/>
            <p:cNvSpPr txBox="1"/>
            <p:nvPr/>
          </p:nvSpPr>
          <p:spPr>
            <a:xfrm>
              <a:off x="12139" y="10039"/>
              <a:ext cx="1985" cy="639"/>
            </a:xfrm>
            <a:prstGeom prst="rect">
              <a:avLst/>
            </a:prstGeom>
            <a:ln cap="rnd">
              <a:noFill/>
            </a:ln>
          </p:spPr>
          <p:txBody>
            <a:bodyPr wrap="square">
              <a:noAutofit/>
            </a:bodyPr>
            <a:p>
              <a:pPr algn="ctr"/>
              <a:r>
                <a:rPr lang="en-US" altLang="zh-CN" sz="1200" i="1">
                  <a:solidFill>
                    <a:srgbClr val="E95351"/>
                  </a:solidFill>
                </a:rPr>
                <a:t>Rack 3 demand unserved!</a:t>
              </a:r>
              <a:endParaRPr lang="zh-CN" altLang="en-US" sz="1200" i="1">
                <a:solidFill>
                  <a:srgbClr val="E95351"/>
                </a:solidFill>
              </a:endParaRPr>
            </a:p>
          </p:txBody>
        </p:sp>
        <p:sp>
          <p:nvSpPr>
            <p:cNvPr id="290" name="圆角矩形 289"/>
            <p:cNvSpPr/>
            <p:nvPr/>
          </p:nvSpPr>
          <p:spPr>
            <a:xfrm>
              <a:off x="12072" y="10044"/>
              <a:ext cx="2103" cy="680"/>
            </a:xfrm>
            <a:prstGeom prst="roundRect">
              <a:avLst/>
            </a:prstGeom>
            <a:noFill/>
            <a:ln w="19050">
              <a:solidFill>
                <a:srgbClr val="E95351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/>
            </a:p>
          </p:txBody>
        </p:sp>
        <p:cxnSp>
          <p:nvCxnSpPr>
            <p:cNvPr id="305" name="直接箭头连接符 304"/>
            <p:cNvCxnSpPr>
              <a:stCxn id="290" idx="0"/>
            </p:cNvCxnSpPr>
            <p:nvPr/>
          </p:nvCxnSpPr>
          <p:spPr>
            <a:xfrm flipH="1" flipV="1">
              <a:off x="11712" y="9414"/>
              <a:ext cx="1412" cy="630"/>
            </a:xfrm>
            <a:prstGeom prst="straightConnector1">
              <a:avLst/>
            </a:prstGeom>
            <a:ln w="19050">
              <a:solidFill>
                <a:srgbClr val="E95351"/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07" name="圆角矩形 306"/>
            <p:cNvSpPr/>
            <p:nvPr/>
          </p:nvSpPr>
          <p:spPr>
            <a:xfrm>
              <a:off x="12405" y="8303"/>
              <a:ext cx="454" cy="1304"/>
            </a:xfrm>
            <a:prstGeom prst="roundRect">
              <a:avLst/>
            </a:prstGeom>
            <a:noFill/>
            <a:ln w="19050">
              <a:solidFill>
                <a:srgbClr val="E95351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/>
            </a:p>
          </p:txBody>
        </p:sp>
        <p:sp>
          <p:nvSpPr>
            <p:cNvPr id="311" name="文本框 310"/>
            <p:cNvSpPr txBox="1"/>
            <p:nvPr/>
          </p:nvSpPr>
          <p:spPr>
            <a:xfrm>
              <a:off x="11962" y="7229"/>
              <a:ext cx="2315" cy="479"/>
            </a:xfrm>
            <a:prstGeom prst="rect">
              <a:avLst/>
            </a:prstGeom>
            <a:ln cap="rnd">
              <a:noFill/>
            </a:ln>
          </p:spPr>
          <p:txBody>
            <a:bodyPr wrap="square">
              <a:noAutofit/>
            </a:bodyPr>
            <a:p>
              <a:pPr algn="ctr"/>
              <a:r>
                <a:rPr lang="en-US" altLang="zh-CN" sz="1200" i="1">
                  <a:solidFill>
                    <a:srgbClr val="E95351"/>
                  </a:solidFill>
                </a:rPr>
                <a:t>Port limit reached!</a:t>
              </a:r>
              <a:endParaRPr lang="en-US" altLang="zh-CN" sz="1200" i="1">
                <a:solidFill>
                  <a:srgbClr val="E95351"/>
                </a:solidFill>
              </a:endParaRPr>
            </a:p>
          </p:txBody>
        </p:sp>
        <p:cxnSp>
          <p:nvCxnSpPr>
            <p:cNvPr id="315" name="直接箭头连接符 314"/>
            <p:cNvCxnSpPr>
              <a:stCxn id="317" idx="2"/>
              <a:endCxn id="307" idx="0"/>
            </p:cNvCxnSpPr>
            <p:nvPr/>
          </p:nvCxnSpPr>
          <p:spPr>
            <a:xfrm flipH="1">
              <a:off x="12632" y="7693"/>
              <a:ext cx="498" cy="610"/>
            </a:xfrm>
            <a:prstGeom prst="straightConnector1">
              <a:avLst/>
            </a:prstGeom>
            <a:ln w="19050">
              <a:solidFill>
                <a:srgbClr val="E95351"/>
              </a:solidFill>
              <a:prstDash val="sysDash"/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17" name="圆角矩形 316"/>
            <p:cNvSpPr/>
            <p:nvPr/>
          </p:nvSpPr>
          <p:spPr>
            <a:xfrm>
              <a:off x="12073" y="7239"/>
              <a:ext cx="2114" cy="454"/>
            </a:xfrm>
            <a:prstGeom prst="roundRect">
              <a:avLst/>
            </a:prstGeom>
            <a:noFill/>
            <a:ln w="19050">
              <a:solidFill>
                <a:srgbClr val="E95351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/>
            </a:p>
          </p:txBody>
        </p:sp>
        <p:sp>
          <p:nvSpPr>
            <p:cNvPr id="246" name="文本框 245"/>
            <p:cNvSpPr txBox="1"/>
            <p:nvPr/>
          </p:nvSpPr>
          <p:spPr>
            <a:xfrm rot="21600000">
              <a:off x="9742" y="8967"/>
              <a:ext cx="1264" cy="66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600">
                  <a:solidFill>
                    <a:schemeClr val="bg2">
                      <a:lumMod val="90000"/>
                    </a:schemeClr>
                  </a:solidFill>
                  <a:latin typeface="Arial" panose="020B0604020202090204" pitchFamily="34" charset="0"/>
                  <a:ea typeface="微软雅黑" charset="-122"/>
                  <a:cs typeface="Arial" panose="020B0604020202090204" pitchFamily="34" charset="0"/>
                </a:rPr>
                <a:t>OCS Fabric</a:t>
              </a:r>
              <a:endParaRPr lang="en-US" altLang="zh-CN" sz="1600">
                <a:solidFill>
                  <a:schemeClr val="bg2">
                    <a:lumMod val="90000"/>
                  </a:schemeClr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endParaRPr>
            </a:p>
          </p:txBody>
        </p:sp>
        <p:cxnSp>
          <p:nvCxnSpPr>
            <p:cNvPr id="323" name="直接箭头连接符 322"/>
            <p:cNvCxnSpPr/>
            <p:nvPr/>
          </p:nvCxnSpPr>
          <p:spPr>
            <a:xfrm flipH="1">
              <a:off x="13771" y="7687"/>
              <a:ext cx="15" cy="2355"/>
            </a:xfrm>
            <a:prstGeom prst="straightConnector1">
              <a:avLst/>
            </a:prstGeom>
            <a:ln w="19050">
              <a:solidFill>
                <a:srgbClr val="E95351"/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2" name="圆角矩形标注 11"/>
          <p:cNvSpPr/>
          <p:nvPr/>
        </p:nvSpPr>
        <p:spPr>
          <a:xfrm>
            <a:off x="5357495" y="4299585"/>
            <a:ext cx="958850" cy="468000"/>
          </a:xfrm>
          <a:prstGeom prst="wedgeRoundRectCallout">
            <a:avLst>
              <a:gd name="adj1" fmla="val 90397"/>
              <a:gd name="adj2" fmla="val -50542"/>
              <a:gd name="adj3" fmla="val 16667"/>
            </a:avLst>
          </a:prstGeom>
          <a:solidFill>
            <a:schemeClr val="bg1"/>
          </a:solidFill>
          <a:ln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i="1">
                <a:solidFill>
                  <a:schemeClr val="tx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  <a:sym typeface="+mn-ea"/>
              </a:rPr>
              <a:t>RecurringDemands</a:t>
            </a:r>
            <a:endParaRPr lang="en-US" altLang="zh-CN" sz="1200" i="1">
              <a:solidFill>
                <a:schemeClr val="tx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  <a:sym typeface="+mn-ea"/>
            </a:endParaRPr>
          </a:p>
        </p:txBody>
      </p:sp>
    </p:spTree>
    <p:custDataLst>
      <p:tags r:id="rId6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圆角矩形 431"/>
          <p:cNvSpPr/>
          <p:nvPr/>
        </p:nvSpPr>
        <p:spPr>
          <a:xfrm>
            <a:off x="5807975" y="727075"/>
            <a:ext cx="5076825" cy="3312000"/>
          </a:xfrm>
          <a:prstGeom prst="roundRect">
            <a:avLst>
              <a:gd name="adj" fmla="val 4702"/>
            </a:avLst>
          </a:prstGeom>
          <a:solidFill>
            <a:srgbClr val="BAE1F2">
              <a:alpha val="2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0" name="文本框 129"/>
          <p:cNvSpPr txBox="1"/>
          <p:nvPr/>
        </p:nvSpPr>
        <p:spPr>
          <a:xfrm>
            <a:off x="6213475" y="789305"/>
            <a:ext cx="1318895" cy="3079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en-US" altLang="zh-CN" sz="1200" i="1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Cycle Compiler</a:t>
            </a:r>
            <a:endParaRPr lang="en-US" altLang="zh-CN" sz="1200" i="1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  <a:p>
            <a:pPr algn="ctr"/>
            <a:r>
              <a:rPr lang="en-US" altLang="zh-CN" sz="1200" i="1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(Alg. 1)</a:t>
            </a:r>
            <a:endParaRPr lang="en-US" altLang="zh-CN" sz="1200" i="1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129" name="圆角矩形 128"/>
          <p:cNvSpPr/>
          <p:nvPr/>
        </p:nvSpPr>
        <p:spPr>
          <a:xfrm>
            <a:off x="6210935" y="825500"/>
            <a:ext cx="1323340" cy="396240"/>
          </a:xfrm>
          <a:prstGeom prst="roundRect">
            <a:avLst>
              <a:gd name="adj" fmla="val 4223"/>
            </a:avLst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1" name="圆角矩形 430"/>
          <p:cNvSpPr/>
          <p:nvPr/>
        </p:nvSpPr>
        <p:spPr>
          <a:xfrm>
            <a:off x="3408310" y="727075"/>
            <a:ext cx="2123440" cy="3312000"/>
          </a:xfrm>
          <a:prstGeom prst="roundRect">
            <a:avLst>
              <a:gd name="adj" fmla="val 4702"/>
            </a:avLst>
          </a:prstGeom>
          <a:solidFill>
            <a:srgbClr val="FFE3B3">
              <a:alpha val="2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9" name="圆角矩形 428"/>
          <p:cNvSpPr/>
          <p:nvPr/>
        </p:nvSpPr>
        <p:spPr>
          <a:xfrm>
            <a:off x="1197610" y="727075"/>
            <a:ext cx="1944000" cy="3312000"/>
          </a:xfrm>
          <a:prstGeom prst="roundRect">
            <a:avLst>
              <a:gd name="adj" fmla="val 4702"/>
            </a:avLst>
          </a:prstGeom>
          <a:solidFill>
            <a:srgbClr val="F5C4B6">
              <a:alpha val="2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文本框 95"/>
          <p:cNvSpPr txBox="1"/>
          <p:nvPr/>
        </p:nvSpPr>
        <p:spPr>
          <a:xfrm>
            <a:off x="9798050" y="2531745"/>
            <a:ext cx="388620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i="1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M</a:t>
            </a:r>
            <a:r>
              <a:rPr lang="en-US" altLang="zh-CN" sz="1200" i="1" baseline="-250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1</a:t>
            </a:r>
            <a:endParaRPr lang="en-US" altLang="zh-CN" sz="1200" i="1" baseline="-2500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9403080" y="2533015"/>
            <a:ext cx="398780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i="1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M</a:t>
            </a:r>
            <a:r>
              <a:rPr lang="en-US" altLang="zh-CN" sz="1200" i="1" baseline="-250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0</a:t>
            </a:r>
            <a:endParaRPr lang="en-US" altLang="zh-CN" sz="1200" i="1" baseline="-2500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9014460" y="2533650"/>
            <a:ext cx="398145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i="1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M</a:t>
            </a:r>
            <a:r>
              <a:rPr lang="en-US" altLang="zh-CN" sz="1200" i="1" baseline="-250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k</a:t>
            </a:r>
            <a:endParaRPr lang="en-US" altLang="zh-CN" sz="1200" i="1" baseline="-2500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8592820" y="2533015"/>
            <a:ext cx="468000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i="1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M</a:t>
            </a:r>
            <a:r>
              <a:rPr lang="en-US" altLang="zh-CN" sz="1200" i="1" baseline="-250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k-1</a:t>
            </a:r>
            <a:endParaRPr lang="en-US" altLang="zh-CN" sz="1200" i="1" baseline="-2500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8202930" y="2533650"/>
            <a:ext cx="468000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i="1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M</a:t>
            </a:r>
            <a:r>
              <a:rPr lang="en-US" altLang="zh-CN" sz="1200" i="1" baseline="-250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k-2</a:t>
            </a:r>
            <a:endParaRPr lang="en-US" altLang="zh-CN" sz="1200" i="1" baseline="-2500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cxnSp>
        <p:nvCxnSpPr>
          <p:cNvPr id="102" name="直接连接符 101"/>
          <p:cNvCxnSpPr/>
          <p:nvPr/>
        </p:nvCxnSpPr>
        <p:spPr>
          <a:xfrm>
            <a:off x="8630920" y="2459355"/>
            <a:ext cx="0" cy="1476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/>
        </p:nvCxnSpPr>
        <p:spPr>
          <a:xfrm>
            <a:off x="9019540" y="2459355"/>
            <a:ext cx="0" cy="1476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/>
        </p:nvCxnSpPr>
        <p:spPr>
          <a:xfrm>
            <a:off x="9408160" y="2459355"/>
            <a:ext cx="0" cy="1476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2" name="矩形 111"/>
          <p:cNvSpPr/>
          <p:nvPr/>
        </p:nvSpPr>
        <p:spPr>
          <a:xfrm>
            <a:off x="8514080" y="3207385"/>
            <a:ext cx="899160" cy="252095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6" name="文本框 115"/>
          <p:cNvSpPr txBox="1"/>
          <p:nvPr/>
        </p:nvSpPr>
        <p:spPr>
          <a:xfrm>
            <a:off x="8396605" y="3210560"/>
            <a:ext cx="1087755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i="1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Collective B</a:t>
            </a:r>
            <a:endParaRPr lang="zh-CN" altLang="en-US" sz="1200" i="1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3724910" y="824865"/>
          <a:ext cx="864235" cy="864235"/>
        </p:xfrm>
        <a:graphic>
          <a:graphicData uri="http://schemas.openxmlformats.org/drawingml/2006/table">
            <a:tbl>
              <a:tblPr>
                <a:effectLst/>
                <a:tableStyleId>{5C22544A-7EE6-4342-B048-85BDC9FD1C3A}</a:tableStyleId>
              </a:tblPr>
              <a:tblGrid>
                <a:gridCol w="288000"/>
                <a:gridCol w="288000"/>
                <a:gridCol w="288000"/>
              </a:tblGrid>
              <a:tr h="288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2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A5FA"/>
                    </a:solidFill>
                  </a:tcPr>
                </a:tc>
              </a:tr>
              <a:tr h="288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AEFA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AEFA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2FE"/>
                    </a:solidFill>
                  </a:tcPr>
                </a:tc>
              </a:tr>
              <a:tr h="288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AEFA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AEFA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3603625" y="1009015"/>
          <a:ext cx="864235" cy="864290"/>
        </p:xfrm>
        <a:graphic>
          <a:graphicData uri="http://schemas.openxmlformats.org/drawingml/2006/table">
            <a:tbl>
              <a:tblPr>
                <a:effectLst/>
                <a:tableStyleId>{5C22544A-7EE6-4342-B048-85BDC9FD1C3A}</a:tableStyleId>
              </a:tblPr>
              <a:tblGrid>
                <a:gridCol w="288000"/>
                <a:gridCol w="288000"/>
                <a:gridCol w="288000"/>
              </a:tblGrid>
              <a:tr h="28829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A5FA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4FC"/>
                    </a:solidFill>
                  </a:tcPr>
                </a:tc>
              </a:tr>
              <a:tr h="288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C6FC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C6FC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C6FC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C6FC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EFE"/>
                    </a:solidFill>
                  </a:tcPr>
                </a:tc>
              </a:tr>
            </a:tbl>
          </a:graphicData>
        </a:graphic>
      </p:graphicFrame>
      <p:sp>
        <p:nvSpPr>
          <p:cNvPr id="228" name="矩形 227"/>
          <p:cNvSpPr/>
          <p:nvPr>
            <p:custDataLst>
              <p:tags r:id="rId1"/>
            </p:custDataLst>
          </p:nvPr>
        </p:nvSpPr>
        <p:spPr>
          <a:xfrm>
            <a:off x="1624965" y="803910"/>
            <a:ext cx="1296035" cy="1116000"/>
          </a:xfrm>
          <a:prstGeom prst="rect">
            <a:avLst/>
          </a:prstGeom>
          <a:solidFill>
            <a:srgbClr val="FDF3F0"/>
          </a:solidFill>
          <a:ln w="952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29" name="文本框 228"/>
          <p:cNvSpPr txBox="1"/>
          <p:nvPr/>
        </p:nvSpPr>
        <p:spPr>
          <a:xfrm>
            <a:off x="1617345" y="756285"/>
            <a:ext cx="1296035" cy="240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i="1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  <a:sym typeface="+mn-ea"/>
              </a:rPr>
              <a:t>Dispatch</a:t>
            </a:r>
            <a:r>
              <a:rPr lang="en-US" altLang="zh-CN" sz="1200" i="1">
                <a:latin typeface="Times New Roman" panose="02020503050405090304" charset="0"/>
                <a:ea typeface="微软雅黑" charset="-122"/>
                <a:cs typeface="Times New Roman" panose="02020503050405090304" charset="0"/>
                <a:sym typeface="+mn-ea"/>
              </a:rPr>
              <a:t> τt</a:t>
            </a:r>
            <a:endParaRPr lang="en-US" altLang="zh-CN" sz="1200" b="1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226" name="矩形 225"/>
          <p:cNvSpPr/>
          <p:nvPr>
            <p:custDataLst>
              <p:tags r:id="rId2"/>
            </p:custDataLst>
          </p:nvPr>
        </p:nvSpPr>
        <p:spPr>
          <a:xfrm>
            <a:off x="1515745" y="998855"/>
            <a:ext cx="1296035" cy="1116000"/>
          </a:xfrm>
          <a:prstGeom prst="rect">
            <a:avLst/>
          </a:prstGeom>
          <a:solidFill>
            <a:srgbClr val="FDF3F0"/>
          </a:solidFill>
          <a:ln w="952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 rot="16200000">
            <a:off x="537845" y="1629410"/>
            <a:ext cx="154876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 Job </a:t>
            </a:r>
            <a:r>
              <a:rPr lang="en-US" altLang="zh-CN" sz="1200" i="1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j</a:t>
            </a:r>
            <a:r>
              <a: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, Layer </a:t>
            </a:r>
            <a:r>
              <a:rPr lang="en-US" altLang="zh-CN" sz="1200" i="1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l</a:t>
            </a:r>
            <a:endParaRPr lang="en-US" altLang="zh-CN" sz="1200" i="1"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</p:txBody>
      </p: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406525" y="1188720"/>
            <a:ext cx="1296035" cy="1116000"/>
          </a:xfrm>
          <a:prstGeom prst="rect">
            <a:avLst/>
          </a:prstGeom>
          <a:solidFill>
            <a:srgbClr val="FDF3F0"/>
          </a:solidFill>
          <a:ln w="952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405890" y="1139825"/>
            <a:ext cx="1296035" cy="240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i="1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Dispatch </a:t>
            </a:r>
            <a:r>
              <a:rPr lang="en-US" altLang="zh-CN" sz="1200" i="1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τt-h+1</a:t>
            </a:r>
            <a:endParaRPr lang="en-US" altLang="zh-CN" sz="1200" i="1"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</p:txBody>
      </p:sp>
      <p:sp>
        <p:nvSpPr>
          <p:cNvPr id="17" name="矩形 16"/>
          <p:cNvSpPr/>
          <p:nvPr>
            <p:custDataLst>
              <p:tags r:id="rId4"/>
            </p:custDataLst>
          </p:nvPr>
        </p:nvSpPr>
        <p:spPr>
          <a:xfrm>
            <a:off x="2278380" y="1376680"/>
            <a:ext cx="252095" cy="252095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70" name="圆角矩形 69"/>
          <p:cNvSpPr/>
          <p:nvPr/>
        </p:nvSpPr>
        <p:spPr>
          <a:xfrm>
            <a:off x="1551940" y="1412875"/>
            <a:ext cx="467995" cy="179705"/>
          </a:xfrm>
          <a:prstGeom prst="roundRect">
            <a:avLst/>
          </a:prstGeom>
          <a:solidFill>
            <a:srgbClr val="60A5FA">
              <a:alpha val="9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圆角矩形 77"/>
          <p:cNvSpPr/>
          <p:nvPr>
            <p:custDataLst>
              <p:tags r:id="rId5"/>
            </p:custDataLst>
          </p:nvPr>
        </p:nvSpPr>
        <p:spPr>
          <a:xfrm>
            <a:off x="1713230" y="1449070"/>
            <a:ext cx="216000" cy="107950"/>
          </a:xfrm>
          <a:prstGeom prst="roundRect">
            <a:avLst/>
          </a:prstGeom>
          <a:solidFill>
            <a:srgbClr val="FFCB40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85" name="矩形 84"/>
          <p:cNvSpPr/>
          <p:nvPr>
            <p:custDataLst>
              <p:tags r:id="rId6"/>
            </p:custDataLst>
          </p:nvPr>
        </p:nvSpPr>
        <p:spPr>
          <a:xfrm>
            <a:off x="2278380" y="1683385"/>
            <a:ext cx="252095" cy="252095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86" name="圆角矩形 85"/>
          <p:cNvSpPr/>
          <p:nvPr/>
        </p:nvSpPr>
        <p:spPr>
          <a:xfrm>
            <a:off x="1551940" y="1719580"/>
            <a:ext cx="467995" cy="179705"/>
          </a:xfrm>
          <a:prstGeom prst="roundRect">
            <a:avLst/>
          </a:prstGeom>
          <a:solidFill>
            <a:srgbClr val="60A5FA">
              <a:alpha val="9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9" name="矩形 88"/>
          <p:cNvSpPr/>
          <p:nvPr>
            <p:custDataLst>
              <p:tags r:id="rId7"/>
            </p:custDataLst>
          </p:nvPr>
        </p:nvSpPr>
        <p:spPr>
          <a:xfrm>
            <a:off x="2278380" y="1990090"/>
            <a:ext cx="252095" cy="252095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93" name="圆角矩形 92"/>
          <p:cNvSpPr/>
          <p:nvPr/>
        </p:nvSpPr>
        <p:spPr>
          <a:xfrm>
            <a:off x="1551940" y="2026285"/>
            <a:ext cx="467995" cy="179705"/>
          </a:xfrm>
          <a:prstGeom prst="roundRect">
            <a:avLst/>
          </a:prstGeom>
          <a:solidFill>
            <a:srgbClr val="60A5FA">
              <a:alpha val="9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7" name="直接连接符 96"/>
          <p:cNvCxnSpPr/>
          <p:nvPr/>
        </p:nvCxnSpPr>
        <p:spPr>
          <a:xfrm>
            <a:off x="2019935" y="1503045"/>
            <a:ext cx="258445" cy="306705"/>
          </a:xfrm>
          <a:prstGeom prst="line">
            <a:avLst/>
          </a:prstGeom>
          <a:ln>
            <a:solidFill>
              <a:srgbClr val="60A5FA"/>
            </a:solidFill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8" name="直接连接符 97"/>
          <p:cNvCxnSpPr>
            <a:stCxn id="86" idx="3"/>
            <a:endCxn id="89" idx="1"/>
          </p:cNvCxnSpPr>
          <p:nvPr/>
        </p:nvCxnSpPr>
        <p:spPr>
          <a:xfrm>
            <a:off x="2019935" y="1809750"/>
            <a:ext cx="258445" cy="306705"/>
          </a:xfrm>
          <a:prstGeom prst="line">
            <a:avLst/>
          </a:prstGeom>
          <a:ln>
            <a:solidFill>
              <a:srgbClr val="60A5FA"/>
            </a:solidFill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0" name="直接连接符 109"/>
          <p:cNvCxnSpPr>
            <a:stCxn id="93" idx="3"/>
            <a:endCxn id="17" idx="1"/>
          </p:cNvCxnSpPr>
          <p:nvPr/>
        </p:nvCxnSpPr>
        <p:spPr>
          <a:xfrm flipV="1">
            <a:off x="2019935" y="1503045"/>
            <a:ext cx="258445" cy="613410"/>
          </a:xfrm>
          <a:prstGeom prst="line">
            <a:avLst/>
          </a:prstGeom>
          <a:ln>
            <a:solidFill>
              <a:srgbClr val="60A5FA"/>
            </a:solidFill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7" name="文本框 226"/>
          <p:cNvSpPr txBox="1"/>
          <p:nvPr/>
        </p:nvSpPr>
        <p:spPr>
          <a:xfrm>
            <a:off x="1507490" y="969010"/>
            <a:ext cx="1296035" cy="240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  <a:sym typeface="+mn-ea"/>
              </a:rPr>
              <a:t>····</a:t>
            </a:r>
            <a:endParaRPr lang="en-US" altLang="zh-CN" sz="1200" b="1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  <a:p>
            <a:pPr algn="ctr"/>
            <a:endParaRPr lang="en-US" altLang="zh-CN" sz="1200" i="1"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</p:txBody>
      </p:sp>
      <p:sp>
        <p:nvSpPr>
          <p:cNvPr id="232" name="右大括号 231"/>
          <p:cNvSpPr/>
          <p:nvPr/>
        </p:nvSpPr>
        <p:spPr>
          <a:xfrm rot="12540000" flipH="1" flipV="1">
            <a:off x="2802890" y="1917065"/>
            <a:ext cx="104775" cy="440690"/>
          </a:xfrm>
          <a:prstGeom prst="rightBrace">
            <a:avLst>
              <a:gd name="adj1" fmla="val 60606"/>
              <a:gd name="adj2" fmla="val 5004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3" name="文本框 232"/>
          <p:cNvSpPr txBox="1"/>
          <p:nvPr/>
        </p:nvSpPr>
        <p:spPr>
          <a:xfrm rot="17940000">
            <a:off x="2313940" y="2197100"/>
            <a:ext cx="1189355" cy="252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i="1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window</a:t>
            </a:r>
            <a:endParaRPr lang="en-US" altLang="zh-CN" sz="1200" i="1">
              <a:latin typeface="微软雅黑" charset="-122"/>
              <a:ea typeface="微软雅黑" charset="-122"/>
              <a:cs typeface="微软雅黑" charset="-122"/>
            </a:endParaRPr>
          </a:p>
        </p:txBody>
      </p:sp>
      <p:pic>
        <p:nvPicPr>
          <p:cNvPr id="234" name="图片 233" descr="calH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 rot="18000000">
            <a:off x="3051810" y="2248535"/>
            <a:ext cx="164571" cy="144000"/>
          </a:xfrm>
          <a:prstGeom prst="rect">
            <a:avLst/>
          </a:prstGeom>
          <a:noFill/>
        </p:spPr>
      </p:pic>
      <p:graphicFrame>
        <p:nvGraphicFramePr>
          <p:cNvPr id="237" name="表格 236"/>
          <p:cNvGraphicFramePr/>
          <p:nvPr/>
        </p:nvGraphicFramePr>
        <p:xfrm>
          <a:off x="3514090" y="1193165"/>
          <a:ext cx="864235" cy="864235"/>
        </p:xfrm>
        <a:graphic>
          <a:graphicData uri="http://schemas.openxmlformats.org/drawingml/2006/table">
            <a:tbl>
              <a:tblPr>
                <a:effectLst/>
                <a:tableStyleId>{5C22544A-7EE6-4342-B048-85BDC9FD1C3A}</a:tableStyleId>
              </a:tblPr>
              <a:tblGrid>
                <a:gridCol w="288000"/>
                <a:gridCol w="288000"/>
                <a:gridCol w="288000"/>
              </a:tblGrid>
              <a:tr h="288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ysClr val="windowText" lastClr="000000"/>
                          </a:solidFill>
                        </a:ln>
                        <a:effectLst>
                          <a:glow rad="63500">
                            <a:schemeClr val="accent5">
                              <a:satMod val="175000"/>
                              <a:alpha val="40000"/>
                            </a:schemeClr>
                          </a:glow>
                        </a:effectLst>
                      </a:endParaRPr>
                    </a:p>
                  </a:txBody>
                  <a:tcPr marL="0" marR="0" marT="0" marB="0">
                    <a:lnL w="952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B2FB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ysClr val="windowText" lastClr="000000"/>
                          </a:solidFill>
                        </a:ln>
                        <a:effectLst>
                          <a:glow rad="63500">
                            <a:schemeClr val="accent5">
                              <a:satMod val="175000"/>
                              <a:alpha val="40000"/>
                            </a:schemeClr>
                          </a:glow>
                        </a:effectLst>
                      </a:endParaRPr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E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ysClr val="windowText" lastClr="000000"/>
                          </a:solidFill>
                        </a:ln>
                        <a:effectLst>
                          <a:glow rad="63500">
                            <a:schemeClr val="accent5">
                              <a:satMod val="175000"/>
                              <a:alpha val="40000"/>
                            </a:schemeClr>
                          </a:glow>
                        </a:effectLst>
                      </a:endParaRPr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2FE"/>
                    </a:solidFill>
                  </a:tcPr>
                </a:tc>
              </a:tr>
              <a:tr h="288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ysClr val="windowText" lastClr="000000"/>
                          </a:solidFill>
                        </a:ln>
                        <a:effectLst>
                          <a:glow rad="63500">
                            <a:schemeClr val="accent5">
                              <a:satMod val="175000"/>
                              <a:alpha val="40000"/>
                            </a:schemeClr>
                          </a:glow>
                        </a:effectLst>
                      </a:endParaRPr>
                    </a:p>
                  </a:txBody>
                  <a:tcPr marL="0" marR="0" marT="0" marB="0">
                    <a:lnL w="952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E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ysClr val="windowText" lastClr="000000"/>
                          </a:solidFill>
                        </a:ln>
                        <a:effectLst>
                          <a:glow rad="63500">
                            <a:schemeClr val="accent5">
                              <a:satMod val="175000"/>
                              <a:alpha val="40000"/>
                            </a:schemeClr>
                          </a:glow>
                        </a:effectLst>
                      </a:endParaRPr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A5FA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ysClr val="windowText" lastClr="000000"/>
                          </a:solidFill>
                        </a:ln>
                        <a:effectLst>
                          <a:glow rad="63500">
                            <a:schemeClr val="accent5">
                              <a:satMod val="175000"/>
                              <a:alpha val="40000"/>
                            </a:schemeClr>
                          </a:glow>
                        </a:effectLst>
                      </a:endParaRPr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4FC"/>
                    </a:solidFill>
                  </a:tcPr>
                </a:tc>
              </a:tr>
              <a:tr h="288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ysClr val="windowText" lastClr="000000"/>
                          </a:solidFill>
                        </a:ln>
                        <a:effectLst>
                          <a:glow rad="63500">
                            <a:schemeClr val="accent5">
                              <a:satMod val="175000"/>
                              <a:alpha val="40000"/>
                            </a:schemeClr>
                          </a:glow>
                        </a:effectLst>
                      </a:endParaRPr>
                    </a:p>
                  </a:txBody>
                  <a:tcPr marL="0" marR="0" marT="0" marB="0">
                    <a:lnL w="952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4FC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ysClr val="windowText" lastClr="000000"/>
                          </a:solidFill>
                        </a:ln>
                        <a:effectLst>
                          <a:glow rad="63500">
                            <a:schemeClr val="accent5">
                              <a:satMod val="175000"/>
                              <a:alpha val="40000"/>
                            </a:schemeClr>
                          </a:glow>
                        </a:effectLst>
                      </a:endParaRPr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ysClr val="windowText" lastClr="000000"/>
                          </a:solidFill>
                        </a:ln>
                        <a:effectLst>
                          <a:glow rad="63500">
                            <a:schemeClr val="accent5">
                              <a:satMod val="175000"/>
                              <a:alpha val="40000"/>
                            </a:schemeClr>
                          </a:glow>
                        </a:effectLst>
                      </a:endParaRPr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7" name="矩形 256"/>
          <p:cNvSpPr/>
          <p:nvPr/>
        </p:nvSpPr>
        <p:spPr>
          <a:xfrm>
            <a:off x="2425700" y="2907030"/>
            <a:ext cx="109220" cy="869315"/>
          </a:xfrm>
          <a:prstGeom prst="rect">
            <a:avLst/>
          </a:prstGeom>
          <a:gradFill>
            <a:gsLst>
              <a:gs pos="0">
                <a:srgbClr val="60A5FA"/>
              </a:gs>
              <a:gs pos="100000">
                <a:srgbClr val="FFFFFF"/>
              </a:gs>
            </a:gsLst>
            <a:lin ang="5400000" scaled="0"/>
          </a:gradFill>
          <a:ln w="63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9" name="文本框 258"/>
          <p:cNvSpPr txBox="1"/>
          <p:nvPr/>
        </p:nvSpPr>
        <p:spPr>
          <a:xfrm>
            <a:off x="2459355" y="3528060"/>
            <a:ext cx="415925" cy="323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>
                <a:latin typeface="Arial" panose="020B0604020202090204" pitchFamily="34" charset="0"/>
                <a:ea typeface="黑体" panose="02010609060101010101" charset="-122"/>
                <a:cs typeface="Arial" panose="020B0604020202090204" pitchFamily="34" charset="0"/>
              </a:rPr>
              <a:t>low</a:t>
            </a:r>
            <a:endParaRPr lang="en-US" altLang="zh-CN" sz="1200" baseline="-25000">
              <a:latin typeface="Arial" panose="020B0604020202090204" pitchFamily="34" charset="0"/>
              <a:ea typeface="黑体" panose="02010609060101010101" charset="-122"/>
              <a:cs typeface="Arial" panose="020B0604020202090204" pitchFamily="34" charset="0"/>
            </a:endParaRPr>
          </a:p>
        </p:txBody>
      </p:sp>
      <p:sp>
        <p:nvSpPr>
          <p:cNvPr id="260" name="文本框 259"/>
          <p:cNvSpPr txBox="1"/>
          <p:nvPr/>
        </p:nvSpPr>
        <p:spPr>
          <a:xfrm>
            <a:off x="2456180" y="2886710"/>
            <a:ext cx="476885" cy="323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>
                <a:latin typeface="Arial" panose="020B0604020202090204" pitchFamily="34" charset="0"/>
                <a:ea typeface="黑体" panose="02010609060101010101" charset="-122"/>
                <a:cs typeface="Arial" panose="020B0604020202090204" pitchFamily="34" charset="0"/>
              </a:rPr>
              <a:t>high</a:t>
            </a:r>
            <a:endParaRPr lang="en-US" altLang="zh-CN" sz="1200" baseline="-25000">
              <a:latin typeface="Arial" panose="020B0604020202090204" pitchFamily="34" charset="0"/>
              <a:ea typeface="黑体" panose="02010609060101010101" charset="-122"/>
              <a:cs typeface="Arial" panose="020B0604020202090204" pitchFamily="34" charset="0"/>
            </a:endParaRPr>
          </a:p>
        </p:txBody>
      </p:sp>
      <p:sp>
        <p:nvSpPr>
          <p:cNvPr id="278" name="文本框 277"/>
          <p:cNvSpPr txBox="1"/>
          <p:nvPr/>
        </p:nvSpPr>
        <p:spPr>
          <a:xfrm>
            <a:off x="2245360" y="1340485"/>
            <a:ext cx="324000" cy="324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 i="1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e</a:t>
            </a:r>
            <a:r>
              <a:rPr lang="en-US" altLang="zh-CN" sz="1200" b="1" i="1" baseline="-25000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1</a:t>
            </a:r>
            <a:endParaRPr lang="en-US" altLang="zh-CN" sz="1200" b="1" i="1" baseline="-25000"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</p:txBody>
      </p:sp>
      <p:sp>
        <p:nvSpPr>
          <p:cNvPr id="281" name="文本框 280"/>
          <p:cNvSpPr txBox="1"/>
          <p:nvPr/>
        </p:nvSpPr>
        <p:spPr>
          <a:xfrm>
            <a:off x="2245360" y="1651635"/>
            <a:ext cx="324000" cy="324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 i="1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e</a:t>
            </a:r>
            <a:r>
              <a:rPr lang="en-US" altLang="zh-CN" sz="1200" b="1" i="1" baseline="-25000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2</a:t>
            </a:r>
            <a:endParaRPr lang="en-US" altLang="zh-CN" sz="1200" b="1" i="1" baseline="-25000"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</p:txBody>
      </p:sp>
      <p:sp>
        <p:nvSpPr>
          <p:cNvPr id="283" name="文本框 282"/>
          <p:cNvSpPr txBox="1"/>
          <p:nvPr/>
        </p:nvSpPr>
        <p:spPr>
          <a:xfrm>
            <a:off x="2245360" y="1957705"/>
            <a:ext cx="324000" cy="324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 i="1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e</a:t>
            </a:r>
            <a:r>
              <a:rPr lang="en-US" altLang="zh-CN" sz="1200" b="1" i="1" baseline="-25000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3</a:t>
            </a:r>
            <a:endParaRPr lang="en-US" altLang="zh-CN" sz="1200" b="1" i="1" baseline="-25000"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1472565" y="1341755"/>
            <a:ext cx="324000" cy="324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 i="1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s</a:t>
            </a:r>
            <a:r>
              <a:rPr lang="en-US" altLang="zh-CN" sz="1200" b="1" i="1" baseline="-25000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1</a:t>
            </a:r>
            <a:endParaRPr lang="en-US" altLang="zh-CN" sz="1200" b="1" i="1" baseline="-25000"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</p:txBody>
      </p:sp>
      <p:sp>
        <p:nvSpPr>
          <p:cNvPr id="299" name="文本框 298"/>
          <p:cNvSpPr txBox="1"/>
          <p:nvPr/>
        </p:nvSpPr>
        <p:spPr>
          <a:xfrm>
            <a:off x="1468120" y="1642745"/>
            <a:ext cx="324000" cy="324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 i="1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s</a:t>
            </a:r>
            <a:r>
              <a:rPr lang="en-US" altLang="zh-CN" sz="1200" b="1" i="1" baseline="-25000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2</a:t>
            </a:r>
            <a:endParaRPr lang="en-US" altLang="zh-CN" sz="1200" b="1" i="1" baseline="-25000"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1468120" y="1950085"/>
            <a:ext cx="324000" cy="324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 i="1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s</a:t>
            </a:r>
            <a:r>
              <a:rPr lang="en-US" altLang="zh-CN" sz="1200" b="1" i="1" baseline="-25000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3</a:t>
            </a:r>
            <a:endParaRPr lang="en-US" altLang="zh-CN" sz="1200" b="1" i="1" baseline="-25000"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</p:txBody>
      </p:sp>
      <p:sp>
        <p:nvSpPr>
          <p:cNvPr id="309" name="圆角矩形 308"/>
          <p:cNvSpPr/>
          <p:nvPr>
            <p:custDataLst>
              <p:tags r:id="rId8"/>
            </p:custDataLst>
          </p:nvPr>
        </p:nvSpPr>
        <p:spPr>
          <a:xfrm>
            <a:off x="1713230" y="1758315"/>
            <a:ext cx="144000" cy="107950"/>
          </a:xfrm>
          <a:prstGeom prst="roundRect">
            <a:avLst/>
          </a:prstGeom>
          <a:solidFill>
            <a:srgbClr val="FFCB40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16" name="圆角矩形 315"/>
          <p:cNvSpPr/>
          <p:nvPr>
            <p:custDataLst>
              <p:tags r:id="rId9"/>
            </p:custDataLst>
          </p:nvPr>
        </p:nvSpPr>
        <p:spPr>
          <a:xfrm>
            <a:off x="1713865" y="2060575"/>
            <a:ext cx="252000" cy="107950"/>
          </a:xfrm>
          <a:prstGeom prst="roundRect">
            <a:avLst/>
          </a:prstGeom>
          <a:solidFill>
            <a:srgbClr val="FFCB40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8105140" y="802640"/>
            <a:ext cx="2611120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i="1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K</a:t>
            </a:r>
            <a:r>
              <a: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-Slot Cyclic </a:t>
            </a:r>
            <a:r>
              <a: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Schedule</a:t>
            </a:r>
            <a:endParaRPr lang="en-US" altLang="zh-CN" sz="120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8153400" y="1402715"/>
            <a:ext cx="398145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i="1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M</a:t>
            </a:r>
            <a:r>
              <a:rPr lang="en-US" altLang="zh-CN" sz="1200" i="1" baseline="-250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0</a:t>
            </a:r>
            <a:endParaRPr lang="en-US" altLang="zh-CN" sz="1200" i="1" baseline="-2500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8712200" y="1402715"/>
            <a:ext cx="398145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i="1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M</a:t>
            </a:r>
            <a:r>
              <a:rPr lang="en-US" altLang="zh-CN" sz="1200" i="1" baseline="-250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1</a:t>
            </a:r>
            <a:endParaRPr lang="en-US" altLang="zh-CN" sz="1200" i="1" baseline="-2500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grpSp>
        <p:nvGrpSpPr>
          <p:cNvPr id="50" name="组合 49"/>
          <p:cNvGrpSpPr/>
          <p:nvPr/>
        </p:nvGrpSpPr>
        <p:grpSpPr>
          <a:xfrm rot="0">
            <a:off x="8208328" y="1121410"/>
            <a:ext cx="288290" cy="288290"/>
            <a:chOff x="6134" y="13942"/>
            <a:chExt cx="454" cy="454"/>
          </a:xfrm>
        </p:grpSpPr>
        <p:cxnSp>
          <p:nvCxnSpPr>
            <p:cNvPr id="52" name="直接连接符 51"/>
            <p:cNvCxnSpPr/>
            <p:nvPr/>
          </p:nvCxnSpPr>
          <p:spPr>
            <a:xfrm rot="16200000">
              <a:off x="6361" y="14169"/>
              <a:ext cx="454" cy="0"/>
            </a:xfrm>
            <a:prstGeom prst="line">
              <a:avLst/>
            </a:prstGeom>
            <a:ln>
              <a:solidFill>
                <a:srgbClr val="60A5FA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rot="16200000">
              <a:off x="5907" y="14169"/>
              <a:ext cx="454" cy="0"/>
            </a:xfrm>
            <a:prstGeom prst="line">
              <a:avLst/>
            </a:prstGeom>
            <a:ln>
              <a:solidFill>
                <a:srgbClr val="60A5FA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rot="10800000">
              <a:off x="6134" y="14396"/>
              <a:ext cx="454" cy="0"/>
            </a:xfrm>
            <a:prstGeom prst="line">
              <a:avLst/>
            </a:prstGeom>
            <a:ln>
              <a:solidFill>
                <a:srgbClr val="60A5FA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V="1">
              <a:off x="6134" y="13944"/>
              <a:ext cx="453" cy="451"/>
            </a:xfrm>
            <a:prstGeom prst="line">
              <a:avLst/>
            </a:prstGeom>
            <a:ln>
              <a:solidFill>
                <a:srgbClr val="60A5FA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77" name="文本框 76"/>
          <p:cNvSpPr txBox="1"/>
          <p:nvPr/>
        </p:nvSpPr>
        <p:spPr>
          <a:xfrm>
            <a:off x="9271000" y="1402715"/>
            <a:ext cx="398145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i="1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M</a:t>
            </a:r>
            <a:r>
              <a:rPr lang="en-US" altLang="zh-CN" sz="1200" i="1" baseline="-250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2</a:t>
            </a:r>
            <a:endParaRPr lang="en-US" altLang="zh-CN" sz="1200" i="1" baseline="-2500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grpSp>
        <p:nvGrpSpPr>
          <p:cNvPr id="49" name="组合 48"/>
          <p:cNvGrpSpPr/>
          <p:nvPr/>
        </p:nvGrpSpPr>
        <p:grpSpPr>
          <a:xfrm rot="0">
            <a:off x="8766493" y="1125220"/>
            <a:ext cx="289560" cy="290195"/>
            <a:chOff x="6132" y="13939"/>
            <a:chExt cx="456" cy="457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6134" y="13942"/>
              <a:ext cx="454" cy="0"/>
            </a:xfrm>
            <a:prstGeom prst="line">
              <a:avLst/>
            </a:prstGeom>
            <a:ln>
              <a:solidFill>
                <a:srgbClr val="60A5FA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rot="16200000">
              <a:off x="5907" y="14169"/>
              <a:ext cx="454" cy="0"/>
            </a:xfrm>
            <a:prstGeom prst="line">
              <a:avLst/>
            </a:prstGeom>
            <a:ln>
              <a:solidFill>
                <a:srgbClr val="60A5FA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 flipV="1">
              <a:off x="6132" y="13939"/>
              <a:ext cx="454" cy="453"/>
            </a:xfrm>
            <a:prstGeom prst="line">
              <a:avLst/>
            </a:prstGeom>
            <a:ln>
              <a:solidFill>
                <a:srgbClr val="60A5FA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V="1">
              <a:off x="6134" y="13944"/>
              <a:ext cx="453" cy="451"/>
            </a:xfrm>
            <a:prstGeom prst="line">
              <a:avLst/>
            </a:prstGeom>
            <a:ln>
              <a:solidFill>
                <a:srgbClr val="60A5FA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57" name="组合 56"/>
          <p:cNvGrpSpPr/>
          <p:nvPr/>
        </p:nvGrpSpPr>
        <p:grpSpPr>
          <a:xfrm rot="0">
            <a:off x="9325928" y="1123950"/>
            <a:ext cx="288290" cy="288290"/>
            <a:chOff x="6134" y="13942"/>
            <a:chExt cx="454" cy="454"/>
          </a:xfrm>
        </p:grpSpPr>
        <p:cxnSp>
          <p:nvCxnSpPr>
            <p:cNvPr id="58" name="直接连接符 57"/>
            <p:cNvCxnSpPr/>
            <p:nvPr/>
          </p:nvCxnSpPr>
          <p:spPr>
            <a:xfrm>
              <a:off x="6134" y="13942"/>
              <a:ext cx="454" cy="0"/>
            </a:xfrm>
            <a:prstGeom prst="line">
              <a:avLst/>
            </a:prstGeom>
            <a:ln>
              <a:solidFill>
                <a:srgbClr val="60A5FA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rot="16200000">
              <a:off x="6361" y="14169"/>
              <a:ext cx="454" cy="0"/>
            </a:xfrm>
            <a:prstGeom prst="line">
              <a:avLst/>
            </a:prstGeom>
            <a:ln>
              <a:solidFill>
                <a:srgbClr val="60A5FA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rot="10800000">
              <a:off x="6134" y="14396"/>
              <a:ext cx="454" cy="0"/>
            </a:xfrm>
            <a:prstGeom prst="line">
              <a:avLst/>
            </a:prstGeom>
            <a:ln>
              <a:solidFill>
                <a:srgbClr val="60A5FA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V="1">
              <a:off x="6134" y="13944"/>
              <a:ext cx="453" cy="451"/>
            </a:xfrm>
            <a:prstGeom prst="line">
              <a:avLst/>
            </a:prstGeom>
            <a:ln>
              <a:solidFill>
                <a:srgbClr val="60A5FA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80" name="直接箭头连接符 79"/>
          <p:cNvCxnSpPr/>
          <p:nvPr/>
        </p:nvCxnSpPr>
        <p:spPr>
          <a:xfrm flipV="1">
            <a:off x="8141335" y="2788285"/>
            <a:ext cx="2513330" cy="6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1" name="文本框 80"/>
          <p:cNvSpPr txBox="1"/>
          <p:nvPr/>
        </p:nvSpPr>
        <p:spPr>
          <a:xfrm>
            <a:off x="10166350" y="2517140"/>
            <a:ext cx="589915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Time</a:t>
            </a:r>
            <a:endParaRPr lang="en-US" altLang="zh-CN" sz="120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8443595" y="2230120"/>
            <a:ext cx="1960245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Timeline (slot)</a:t>
            </a:r>
            <a:endParaRPr lang="zh-CN" altLang="en-US" sz="120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83" name="圆角矩形 82"/>
          <p:cNvSpPr/>
          <p:nvPr/>
        </p:nvSpPr>
        <p:spPr>
          <a:xfrm>
            <a:off x="8242300" y="2523490"/>
            <a:ext cx="388620" cy="266700"/>
          </a:xfrm>
          <a:prstGeom prst="roundRect">
            <a:avLst>
              <a:gd name="adj" fmla="val 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圆角矩形 86"/>
          <p:cNvSpPr/>
          <p:nvPr/>
        </p:nvSpPr>
        <p:spPr>
          <a:xfrm>
            <a:off x="8630920" y="2523490"/>
            <a:ext cx="388620" cy="266700"/>
          </a:xfrm>
          <a:prstGeom prst="roundRect">
            <a:avLst>
              <a:gd name="adj" fmla="val 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圆角矩形 89"/>
          <p:cNvSpPr/>
          <p:nvPr/>
        </p:nvSpPr>
        <p:spPr>
          <a:xfrm>
            <a:off x="9019540" y="2523490"/>
            <a:ext cx="389255" cy="266700"/>
          </a:xfrm>
          <a:prstGeom prst="roundRect">
            <a:avLst>
              <a:gd name="adj" fmla="val 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圆角矩形 91"/>
          <p:cNvSpPr/>
          <p:nvPr/>
        </p:nvSpPr>
        <p:spPr>
          <a:xfrm>
            <a:off x="9407525" y="2523490"/>
            <a:ext cx="389255" cy="266700"/>
          </a:xfrm>
          <a:prstGeom prst="roundRect">
            <a:avLst>
              <a:gd name="adj" fmla="val 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5" name="圆角矩形 94"/>
          <p:cNvSpPr/>
          <p:nvPr/>
        </p:nvSpPr>
        <p:spPr>
          <a:xfrm>
            <a:off x="9796780" y="2523490"/>
            <a:ext cx="388620" cy="266700"/>
          </a:xfrm>
          <a:prstGeom prst="roundRect">
            <a:avLst>
              <a:gd name="adj" fmla="val 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1" name="直接连接符 100"/>
          <p:cNvCxnSpPr/>
          <p:nvPr/>
        </p:nvCxnSpPr>
        <p:spPr>
          <a:xfrm>
            <a:off x="8242300" y="2459355"/>
            <a:ext cx="0" cy="1476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5" name="直接连接符 104"/>
          <p:cNvCxnSpPr/>
          <p:nvPr/>
        </p:nvCxnSpPr>
        <p:spPr>
          <a:xfrm>
            <a:off x="9796780" y="2459355"/>
            <a:ext cx="0" cy="1476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/>
        </p:nvCxnSpPr>
        <p:spPr>
          <a:xfrm>
            <a:off x="10185400" y="2459355"/>
            <a:ext cx="0" cy="1476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9" name="矩形 108"/>
          <p:cNvSpPr/>
          <p:nvPr/>
        </p:nvSpPr>
        <p:spPr>
          <a:xfrm>
            <a:off x="8239760" y="2869565"/>
            <a:ext cx="1329690" cy="252000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1" name="文本框 110"/>
          <p:cNvSpPr txBox="1"/>
          <p:nvPr/>
        </p:nvSpPr>
        <p:spPr>
          <a:xfrm>
            <a:off x="8133080" y="2867660"/>
            <a:ext cx="1087755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i="1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Collective </a:t>
            </a:r>
            <a:r>
              <a:rPr lang="en-US" altLang="zh-CN" sz="1200" i="1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A</a:t>
            </a:r>
            <a:endParaRPr lang="en-US" altLang="zh-CN" sz="1200" i="1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8770620" y="3545205"/>
            <a:ext cx="966470" cy="252095"/>
          </a:xfrm>
          <a:prstGeom prst="rect">
            <a:avLst/>
          </a:prstGeom>
          <a:solidFill>
            <a:srgbClr val="00A4E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5" name="矩形 114"/>
          <p:cNvSpPr/>
          <p:nvPr/>
        </p:nvSpPr>
        <p:spPr>
          <a:xfrm>
            <a:off x="9396095" y="3207290"/>
            <a:ext cx="400050" cy="252095"/>
          </a:xfrm>
          <a:prstGeom prst="rect">
            <a:avLst/>
          </a:prstGeom>
          <a:solidFill>
            <a:srgbClr val="FFB900">
              <a:alpha val="5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7" name="文本框 116"/>
          <p:cNvSpPr txBox="1"/>
          <p:nvPr/>
        </p:nvSpPr>
        <p:spPr>
          <a:xfrm>
            <a:off x="8656320" y="3539490"/>
            <a:ext cx="1087755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i="1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Collective C</a:t>
            </a:r>
            <a:endParaRPr lang="zh-CN" altLang="en-US" sz="1200" i="1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8105140" y="825500"/>
            <a:ext cx="2610485" cy="1102995"/>
          </a:xfrm>
          <a:prstGeom prst="roundRect">
            <a:avLst>
              <a:gd name="adj" fmla="val 2763"/>
            </a:avLst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4" name="表格 13"/>
          <p:cNvGraphicFramePr/>
          <p:nvPr/>
        </p:nvGraphicFramePr>
        <p:xfrm>
          <a:off x="1478915" y="2912110"/>
          <a:ext cx="864235" cy="864235"/>
        </p:xfrm>
        <a:graphic>
          <a:graphicData uri="http://schemas.openxmlformats.org/drawingml/2006/table">
            <a:tbl>
              <a:tblPr>
                <a:effectLst/>
                <a:tableStyleId>{5C22544A-7EE6-4342-B048-85BDC9FD1C3A}</a:tableStyleId>
              </a:tblPr>
              <a:tblGrid>
                <a:gridCol w="288000"/>
                <a:gridCol w="288000"/>
                <a:gridCol w="288000"/>
              </a:tblGrid>
              <a:tr h="288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ysClr val="windowText" lastClr="000000"/>
                          </a:solidFill>
                        </a:ln>
                        <a:effectLst>
                          <a:glow rad="63500">
                            <a:schemeClr val="accent5">
                              <a:satMod val="175000"/>
                              <a:alpha val="40000"/>
                            </a:schemeClr>
                          </a:glow>
                        </a:effectLst>
                      </a:endParaRPr>
                    </a:p>
                  </a:txBody>
                  <a:tcPr marL="0" marR="0" marT="0" marB="0">
                    <a:lnL w="952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B2FB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ysClr val="windowText" lastClr="000000"/>
                          </a:solidFill>
                        </a:ln>
                        <a:effectLst>
                          <a:glow rad="63500">
                            <a:schemeClr val="accent5">
                              <a:satMod val="175000"/>
                              <a:alpha val="40000"/>
                            </a:schemeClr>
                          </a:glow>
                        </a:effectLst>
                      </a:endParaRPr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E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ysClr val="windowText" lastClr="000000"/>
                          </a:solidFill>
                        </a:ln>
                        <a:effectLst>
                          <a:glow rad="63500">
                            <a:schemeClr val="accent5">
                              <a:satMod val="175000"/>
                              <a:alpha val="40000"/>
                            </a:schemeClr>
                          </a:glow>
                        </a:effectLst>
                      </a:endParaRPr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2FE"/>
                    </a:solidFill>
                  </a:tcPr>
                </a:tc>
              </a:tr>
              <a:tr h="288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ysClr val="windowText" lastClr="000000"/>
                          </a:solidFill>
                        </a:ln>
                        <a:effectLst>
                          <a:glow rad="63500">
                            <a:schemeClr val="accent5">
                              <a:satMod val="175000"/>
                              <a:alpha val="40000"/>
                            </a:schemeClr>
                          </a:glow>
                        </a:effectLst>
                      </a:endParaRPr>
                    </a:p>
                  </a:txBody>
                  <a:tcPr marL="0" marR="0" marT="0" marB="0">
                    <a:lnL w="952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EF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ysClr val="windowText" lastClr="000000"/>
                          </a:solidFill>
                        </a:ln>
                        <a:effectLst>
                          <a:glow rad="63500">
                            <a:schemeClr val="accent5">
                              <a:satMod val="175000"/>
                              <a:alpha val="40000"/>
                            </a:schemeClr>
                          </a:glow>
                        </a:effectLst>
                      </a:endParaRPr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0A5FA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ysClr val="windowText" lastClr="000000"/>
                          </a:solidFill>
                        </a:ln>
                        <a:effectLst>
                          <a:glow rad="63500">
                            <a:schemeClr val="accent5">
                              <a:satMod val="175000"/>
                              <a:alpha val="40000"/>
                            </a:schemeClr>
                          </a:glow>
                        </a:effectLst>
                      </a:endParaRPr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4FC"/>
                    </a:solidFill>
                  </a:tcPr>
                </a:tc>
              </a:tr>
              <a:tr h="288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ysClr val="windowText" lastClr="000000"/>
                          </a:solidFill>
                        </a:ln>
                        <a:effectLst>
                          <a:glow rad="63500">
                            <a:schemeClr val="accent5">
                              <a:satMod val="175000"/>
                              <a:alpha val="40000"/>
                            </a:schemeClr>
                          </a:glow>
                        </a:effectLst>
                      </a:endParaRPr>
                    </a:p>
                  </a:txBody>
                  <a:tcPr marL="0" marR="0" marT="0" marB="0">
                    <a:lnL w="952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4FC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ysClr val="windowText" lastClr="000000"/>
                          </a:solidFill>
                        </a:ln>
                        <a:effectLst>
                          <a:glow rad="63500">
                            <a:schemeClr val="accent5">
                              <a:satMod val="175000"/>
                              <a:alpha val="40000"/>
                            </a:schemeClr>
                          </a:glow>
                        </a:effectLst>
                      </a:endParaRPr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3DDFD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n>
                          <a:solidFill>
                            <a:sysClr val="windowText" lastClr="000000"/>
                          </a:solidFill>
                        </a:ln>
                        <a:effectLst>
                          <a:glow rad="63500">
                            <a:schemeClr val="accent5">
                              <a:satMod val="175000"/>
                              <a:alpha val="40000"/>
                            </a:schemeClr>
                          </a:glow>
                        </a:effectLst>
                      </a:endParaRPr>
                    </a:p>
                  </a:txBody>
                  <a:tcPr marL="0" marR="0" marT="0" marB="0">
                    <a:lnL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L>
                    <a:lnR w="952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</a:lnT>
                    <a:lnB w="952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1461770" y="3681095"/>
            <a:ext cx="324000" cy="324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 i="1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e</a:t>
            </a:r>
            <a:r>
              <a:rPr lang="en-US" altLang="zh-CN" sz="1200" b="1" i="1" baseline="-25000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1</a:t>
            </a:r>
            <a:endParaRPr lang="en-US" altLang="zh-CN" sz="1200" b="1" i="1" baseline="-25000"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748790" y="3681730"/>
            <a:ext cx="324000" cy="324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 i="1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e</a:t>
            </a:r>
            <a:r>
              <a:rPr lang="en-US" altLang="zh-CN" sz="1200" b="1" i="1" baseline="-25000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2</a:t>
            </a:r>
            <a:endParaRPr lang="en-US" altLang="zh-CN" sz="1200" b="1" i="1" baseline="-25000"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036445" y="3681730"/>
            <a:ext cx="324000" cy="324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 i="1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e</a:t>
            </a:r>
            <a:r>
              <a:rPr lang="en-US" altLang="zh-CN" sz="1200" b="1" i="1" baseline="-25000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3</a:t>
            </a:r>
            <a:endParaRPr lang="en-US" altLang="zh-CN" sz="1200" b="1" i="1" baseline="-25000"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218565" y="2897505"/>
            <a:ext cx="324000" cy="324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 i="1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s</a:t>
            </a:r>
            <a:r>
              <a:rPr lang="en-US" altLang="zh-CN" sz="1200" b="1" i="1" baseline="-25000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1</a:t>
            </a:r>
            <a:endParaRPr lang="en-US" altLang="zh-CN" sz="1200" b="1" i="1" baseline="-25000"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218565" y="3181985"/>
            <a:ext cx="324000" cy="324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 i="1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s</a:t>
            </a:r>
            <a:r>
              <a:rPr lang="en-US" altLang="zh-CN" sz="1200" b="1" i="1" baseline="-25000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2</a:t>
            </a:r>
            <a:endParaRPr lang="en-US" altLang="zh-CN" sz="1200" b="1" i="1" baseline="-25000"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218565" y="3470275"/>
            <a:ext cx="324000" cy="324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 i="1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s</a:t>
            </a:r>
            <a:r>
              <a:rPr lang="en-US" altLang="zh-CN" sz="1200" b="1" i="1" baseline="-25000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3</a:t>
            </a:r>
            <a:endParaRPr lang="en-US" altLang="zh-CN" sz="1200" b="1" i="1" baseline="-25000"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 flipH="1">
            <a:off x="1713865" y="2342515"/>
            <a:ext cx="2540" cy="288000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prstDash val="dash"/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1643380" y="2329180"/>
            <a:ext cx="945515" cy="292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Aggregate</a:t>
            </a:r>
            <a:endParaRPr lang="en-US" altLang="zh-CN" sz="120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cxnSp>
        <p:nvCxnSpPr>
          <p:cNvPr id="157" name="直接箭头连接符 156"/>
          <p:cNvCxnSpPr/>
          <p:nvPr/>
        </p:nvCxnSpPr>
        <p:spPr>
          <a:xfrm flipH="1">
            <a:off x="4018280" y="2216785"/>
            <a:ext cx="635" cy="294640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5" name="文本框 164"/>
          <p:cNvSpPr txBox="1"/>
          <p:nvPr/>
        </p:nvSpPr>
        <p:spPr>
          <a:xfrm>
            <a:off x="4018915" y="2230120"/>
            <a:ext cx="958850" cy="27559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 sz="1200"/>
              <a:t>Projection</a:t>
            </a:r>
            <a:endParaRPr lang="en-US" altLang="zh-CN" sz="1200"/>
          </a:p>
        </p:txBody>
      </p:sp>
      <p:sp>
        <p:nvSpPr>
          <p:cNvPr id="225" name="文本框 224"/>
          <p:cNvSpPr txBox="1"/>
          <p:nvPr/>
        </p:nvSpPr>
        <p:spPr>
          <a:xfrm>
            <a:off x="10227945" y="1402715"/>
            <a:ext cx="459740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i="1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M</a:t>
            </a:r>
            <a:r>
              <a:rPr lang="en-US" altLang="zh-CN" sz="1200" i="1" baseline="-250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k-1</a:t>
            </a:r>
            <a:endParaRPr lang="en-US" altLang="zh-CN" sz="1200" i="1" baseline="-2500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1241425" y="2632710"/>
            <a:ext cx="1659890" cy="295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Observation</a:t>
            </a:r>
            <a:endParaRPr lang="zh-CN" altLang="en-US" sz="120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grpSp>
        <p:nvGrpSpPr>
          <p:cNvPr id="217" name="组合 216"/>
          <p:cNvGrpSpPr/>
          <p:nvPr/>
        </p:nvGrpSpPr>
        <p:grpSpPr>
          <a:xfrm rot="0">
            <a:off x="10313035" y="1122045"/>
            <a:ext cx="289560" cy="290195"/>
            <a:chOff x="6132" y="13939"/>
            <a:chExt cx="456" cy="457"/>
          </a:xfrm>
        </p:grpSpPr>
        <p:cxnSp>
          <p:nvCxnSpPr>
            <p:cNvPr id="222" name="直接连接符 221"/>
            <p:cNvCxnSpPr/>
            <p:nvPr/>
          </p:nvCxnSpPr>
          <p:spPr>
            <a:xfrm rot="10800000">
              <a:off x="6134" y="14396"/>
              <a:ext cx="454" cy="0"/>
            </a:xfrm>
            <a:prstGeom prst="line">
              <a:avLst/>
            </a:prstGeom>
            <a:ln>
              <a:solidFill>
                <a:srgbClr val="60A5FA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3" name="直接连接符 222"/>
            <p:cNvCxnSpPr/>
            <p:nvPr/>
          </p:nvCxnSpPr>
          <p:spPr>
            <a:xfrm flipH="1" flipV="1">
              <a:off x="6132" y="13939"/>
              <a:ext cx="454" cy="453"/>
            </a:xfrm>
            <a:prstGeom prst="line">
              <a:avLst/>
            </a:prstGeom>
            <a:ln>
              <a:solidFill>
                <a:srgbClr val="60A5FA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4" name="直接连接符 223"/>
            <p:cNvCxnSpPr/>
            <p:nvPr/>
          </p:nvCxnSpPr>
          <p:spPr>
            <a:xfrm flipV="1">
              <a:off x="6134" y="13944"/>
              <a:ext cx="453" cy="451"/>
            </a:xfrm>
            <a:prstGeom prst="line">
              <a:avLst/>
            </a:prstGeom>
            <a:ln>
              <a:solidFill>
                <a:srgbClr val="60A5FA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230" name="肘形连接符 229"/>
          <p:cNvCxnSpPr>
            <a:stCxn id="225" idx="2"/>
            <a:endCxn id="75" idx="2"/>
          </p:cNvCxnSpPr>
          <p:nvPr/>
        </p:nvCxnSpPr>
        <p:spPr>
          <a:xfrm rot="5400000">
            <a:off x="9404985" y="598170"/>
            <a:ext cx="3175" cy="2105025"/>
          </a:xfrm>
          <a:prstGeom prst="bentConnector3">
            <a:avLst>
              <a:gd name="adj1" fmla="val 6340000"/>
            </a:avLst>
          </a:prstGeom>
          <a:ln w="19050">
            <a:solidFill>
              <a:srgbClr val="60A5F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6" name="文本框 235"/>
          <p:cNvSpPr txBox="1"/>
          <p:nvPr/>
        </p:nvSpPr>
        <p:spPr>
          <a:xfrm>
            <a:off x="9758839" y="1389380"/>
            <a:ext cx="398145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 baseline="-250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  <a:sym typeface="+mn-ea"/>
              </a:rPr>
              <a:t>···</a:t>
            </a:r>
            <a:endParaRPr lang="en-US" altLang="zh-CN" sz="1200" b="1" baseline="-2500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  <a:p>
            <a:pPr algn="ctr"/>
            <a:endParaRPr lang="en-US" altLang="zh-CN" sz="1200" b="1" baseline="-2500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235" name="文本框 234"/>
          <p:cNvSpPr txBox="1"/>
          <p:nvPr/>
        </p:nvSpPr>
        <p:spPr>
          <a:xfrm>
            <a:off x="9758839" y="1136015"/>
            <a:ext cx="398145" cy="2482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en-US" altLang="zh-CN" sz="1200" b="1" baseline="-250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  <a:sym typeface="+mn-ea"/>
              </a:rPr>
              <a:t>······</a:t>
            </a:r>
            <a:endParaRPr lang="en-US" altLang="zh-CN" sz="1200" b="1" baseline="-2500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249" name="圆角矩形 248"/>
          <p:cNvSpPr/>
          <p:nvPr/>
        </p:nvSpPr>
        <p:spPr>
          <a:xfrm>
            <a:off x="3477895" y="1155700"/>
            <a:ext cx="939165" cy="933450"/>
          </a:xfrm>
          <a:prstGeom prst="roundRect">
            <a:avLst>
              <a:gd name="adj" fmla="val 3718"/>
            </a:avLst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1276350" y="2651760"/>
            <a:ext cx="1599565" cy="1282065"/>
          </a:xfrm>
          <a:prstGeom prst="roundRect">
            <a:avLst>
              <a:gd name="adj" fmla="val 3718"/>
            </a:avLst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肘形连接符 10"/>
          <p:cNvCxnSpPr>
            <a:stCxn id="10" idx="3"/>
            <a:endCxn id="249" idx="1"/>
          </p:cNvCxnSpPr>
          <p:nvPr/>
        </p:nvCxnSpPr>
        <p:spPr>
          <a:xfrm flipV="1">
            <a:off x="2875915" y="1622425"/>
            <a:ext cx="601980" cy="1670685"/>
          </a:xfrm>
          <a:prstGeom prst="bentConnector3">
            <a:avLst>
              <a:gd name="adj1" fmla="val 64240"/>
            </a:avLst>
          </a:prstGeom>
          <a:ln w="15875" cap="rnd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5" name="肘形连接符 134"/>
          <p:cNvCxnSpPr>
            <a:stCxn id="166" idx="3"/>
            <a:endCxn id="129" idx="1"/>
          </p:cNvCxnSpPr>
          <p:nvPr/>
        </p:nvCxnSpPr>
        <p:spPr>
          <a:xfrm flipV="1">
            <a:off x="5461000" y="1023620"/>
            <a:ext cx="749935" cy="2202180"/>
          </a:xfrm>
          <a:prstGeom prst="bentConnector3">
            <a:avLst>
              <a:gd name="adj1" fmla="val 27773"/>
            </a:avLst>
          </a:prstGeom>
          <a:ln w="15875">
            <a:solidFill>
              <a:schemeClr val="tx1">
                <a:lumMod val="50000"/>
                <a:lumOff val="5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2" name="直接箭头连接符 151"/>
          <p:cNvCxnSpPr/>
          <p:nvPr/>
        </p:nvCxnSpPr>
        <p:spPr>
          <a:xfrm flipV="1">
            <a:off x="6869430" y="1221740"/>
            <a:ext cx="3175" cy="244475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3" name="直接箭头连接符 152"/>
          <p:cNvCxnSpPr/>
          <p:nvPr/>
        </p:nvCxnSpPr>
        <p:spPr>
          <a:xfrm>
            <a:off x="7534275" y="1023620"/>
            <a:ext cx="571500" cy="635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5" name="文本框 154"/>
          <p:cNvSpPr txBox="1"/>
          <p:nvPr/>
        </p:nvSpPr>
        <p:spPr>
          <a:xfrm>
            <a:off x="5637530" y="2710815"/>
            <a:ext cx="2473325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Service Debt</a:t>
            </a:r>
            <a:endParaRPr lang="en-US" altLang="zh-CN" sz="120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269" name="右中括号 268"/>
          <p:cNvSpPr/>
          <p:nvPr/>
        </p:nvSpPr>
        <p:spPr>
          <a:xfrm rot="5400000">
            <a:off x="4421505" y="1186815"/>
            <a:ext cx="76200" cy="1983740"/>
          </a:xfrm>
          <a:prstGeom prst="rightBracket">
            <a:avLst>
              <a:gd name="adj" fmla="val 17833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0" name="文本框 269"/>
          <p:cNvSpPr txBox="1"/>
          <p:nvPr/>
        </p:nvSpPr>
        <p:spPr>
          <a:xfrm>
            <a:off x="4590415" y="821055"/>
            <a:ext cx="958215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 sz="1200"/>
              <a:t>Placement</a:t>
            </a:r>
            <a:endParaRPr lang="en-US" altLang="zh-CN" sz="1200"/>
          </a:p>
          <a:p>
            <a:pPr algn="ctr"/>
            <a:r>
              <a:rPr lang="en-US" altLang="zh-CN" sz="1200"/>
              <a:t>Info.</a:t>
            </a:r>
            <a:endParaRPr lang="en-US" altLang="zh-CN" sz="1200"/>
          </a:p>
        </p:txBody>
      </p:sp>
      <p:sp>
        <p:nvSpPr>
          <p:cNvPr id="277" name="文本框 276"/>
          <p:cNvSpPr txBox="1"/>
          <p:nvPr/>
        </p:nvSpPr>
        <p:spPr>
          <a:xfrm>
            <a:off x="4738370" y="1274445"/>
            <a:ext cx="657860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Rack 3</a:t>
            </a:r>
            <a:endParaRPr lang="en-US" altLang="zh-CN" sz="120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cxnSp>
        <p:nvCxnSpPr>
          <p:cNvPr id="279" name="直接连接符 278"/>
          <p:cNvCxnSpPr/>
          <p:nvPr>
            <p:custDataLst>
              <p:tags r:id="rId10"/>
            </p:custDataLst>
          </p:nvPr>
        </p:nvCxnSpPr>
        <p:spPr>
          <a:xfrm>
            <a:off x="4797425" y="1684655"/>
            <a:ext cx="539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0" name="矩形 279"/>
          <p:cNvSpPr/>
          <p:nvPr>
            <p:custDataLst>
              <p:tags r:id="rId11"/>
            </p:custDataLst>
          </p:nvPr>
        </p:nvSpPr>
        <p:spPr>
          <a:xfrm>
            <a:off x="4797425" y="1499235"/>
            <a:ext cx="539750" cy="3975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82" name="圆角矩形 281"/>
          <p:cNvSpPr/>
          <p:nvPr/>
        </p:nvSpPr>
        <p:spPr>
          <a:xfrm>
            <a:off x="4887595" y="1522095"/>
            <a:ext cx="360045" cy="142875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84" name="直接连接符 283"/>
          <p:cNvCxnSpPr/>
          <p:nvPr/>
        </p:nvCxnSpPr>
        <p:spPr>
          <a:xfrm>
            <a:off x="4932045" y="1593850"/>
            <a:ext cx="179705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5" name="椭圆 284"/>
          <p:cNvSpPr/>
          <p:nvPr/>
        </p:nvSpPr>
        <p:spPr>
          <a:xfrm>
            <a:off x="5176520" y="1575435"/>
            <a:ext cx="36195" cy="3619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6" name="圆角矩形 285"/>
          <p:cNvSpPr/>
          <p:nvPr/>
        </p:nvSpPr>
        <p:spPr>
          <a:xfrm>
            <a:off x="4833620" y="1701800"/>
            <a:ext cx="467995" cy="179705"/>
          </a:xfrm>
          <a:prstGeom prst="roundRect">
            <a:avLst/>
          </a:prstGeom>
          <a:solidFill>
            <a:srgbClr val="60A5FA">
              <a:alpha val="9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7" name="圆角矩形 286"/>
          <p:cNvSpPr/>
          <p:nvPr>
            <p:custDataLst>
              <p:tags r:id="rId12"/>
            </p:custDataLst>
          </p:nvPr>
        </p:nvSpPr>
        <p:spPr>
          <a:xfrm>
            <a:off x="4994910" y="1737995"/>
            <a:ext cx="216000" cy="107950"/>
          </a:xfrm>
          <a:prstGeom prst="roundRect">
            <a:avLst/>
          </a:prstGeom>
          <a:solidFill>
            <a:srgbClr val="FFCB40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88" name="文本框 287"/>
          <p:cNvSpPr txBox="1"/>
          <p:nvPr/>
        </p:nvSpPr>
        <p:spPr>
          <a:xfrm>
            <a:off x="4755515" y="1623695"/>
            <a:ext cx="324000" cy="324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 i="1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s</a:t>
            </a:r>
            <a:r>
              <a:rPr lang="en-US" altLang="zh-CN" sz="1200" b="1" i="1" baseline="-25000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1</a:t>
            </a:r>
            <a:endParaRPr lang="en-US" altLang="zh-CN" sz="1200" b="1" i="1" baseline="-25000"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4872355" y="1872615"/>
            <a:ext cx="401320" cy="240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  <a:sym typeface="+mn-ea"/>
              </a:rPr>
              <a:t>···</a:t>
            </a:r>
            <a:endParaRPr lang="en-US" altLang="zh-CN" sz="1200" b="1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  <a:p>
            <a:pPr algn="ctr"/>
            <a:endParaRPr lang="en-US" altLang="zh-CN" sz="1200" b="1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291" name="圆角矩形 290"/>
          <p:cNvSpPr/>
          <p:nvPr/>
        </p:nvSpPr>
        <p:spPr>
          <a:xfrm>
            <a:off x="4685030" y="825500"/>
            <a:ext cx="766445" cy="1270000"/>
          </a:xfrm>
          <a:prstGeom prst="roundRect">
            <a:avLst>
              <a:gd name="adj" fmla="val 2568"/>
            </a:avLst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3" name="矩形 172"/>
          <p:cNvSpPr/>
          <p:nvPr>
            <p:custDataLst>
              <p:tags r:id="rId13"/>
            </p:custDataLst>
          </p:nvPr>
        </p:nvSpPr>
        <p:spPr>
          <a:xfrm>
            <a:off x="3577590" y="2753995"/>
            <a:ext cx="539750" cy="215900"/>
          </a:xfrm>
          <a:prstGeom prst="rect">
            <a:avLst/>
          </a:prstGeom>
          <a:solidFill>
            <a:srgbClr val="70AEF9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06" name="矩形 205"/>
          <p:cNvSpPr/>
          <p:nvPr>
            <p:custDataLst>
              <p:tags r:id="rId14"/>
            </p:custDataLst>
          </p:nvPr>
        </p:nvSpPr>
        <p:spPr>
          <a:xfrm>
            <a:off x="4362450" y="2754630"/>
            <a:ext cx="539750" cy="215900"/>
          </a:xfrm>
          <a:prstGeom prst="rect">
            <a:avLst/>
          </a:prstGeom>
          <a:solidFill>
            <a:srgbClr val="70AEF9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38" name="矩形 237"/>
          <p:cNvSpPr/>
          <p:nvPr>
            <p:custDataLst>
              <p:tags r:id="rId15"/>
            </p:custDataLst>
          </p:nvPr>
        </p:nvSpPr>
        <p:spPr>
          <a:xfrm rot="10800000">
            <a:off x="3577590" y="3227705"/>
            <a:ext cx="539750" cy="215900"/>
          </a:xfrm>
          <a:prstGeom prst="rect">
            <a:avLst/>
          </a:prstGeom>
          <a:solidFill>
            <a:srgbClr val="70AEF9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55" name="矩形 254"/>
          <p:cNvSpPr/>
          <p:nvPr>
            <p:custDataLst>
              <p:tags r:id="rId16"/>
            </p:custDataLst>
          </p:nvPr>
        </p:nvSpPr>
        <p:spPr>
          <a:xfrm rot="10800000">
            <a:off x="4362450" y="3227705"/>
            <a:ext cx="539750" cy="215900"/>
          </a:xfrm>
          <a:prstGeom prst="rect">
            <a:avLst/>
          </a:prstGeom>
          <a:solidFill>
            <a:srgbClr val="70AEF9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12" name="文本框 211"/>
          <p:cNvSpPr txBox="1"/>
          <p:nvPr/>
        </p:nvSpPr>
        <p:spPr>
          <a:xfrm>
            <a:off x="3518535" y="3202305"/>
            <a:ext cx="657860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Rack 3</a:t>
            </a:r>
            <a:endParaRPr lang="en-US" altLang="zh-CN" sz="120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4303395" y="2722245"/>
            <a:ext cx="657860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Rack 2</a:t>
            </a:r>
            <a:endParaRPr lang="en-US" altLang="zh-CN" sz="120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3518535" y="2722245"/>
            <a:ext cx="657860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Rack 1</a:t>
            </a:r>
            <a:endParaRPr lang="en-US" altLang="zh-CN" sz="120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253" name="文本框 252"/>
          <p:cNvSpPr txBox="1"/>
          <p:nvPr/>
        </p:nvSpPr>
        <p:spPr>
          <a:xfrm>
            <a:off x="4303395" y="3202305"/>
            <a:ext cx="657860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Rack 4</a:t>
            </a:r>
            <a:endParaRPr lang="en-US" altLang="zh-CN" sz="120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478530" y="2505710"/>
            <a:ext cx="1992630" cy="307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Demand Profile</a:t>
            </a:r>
            <a:endParaRPr lang="zh-CN" altLang="en-US" sz="120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166" name="圆角矩形 165"/>
          <p:cNvSpPr/>
          <p:nvPr/>
        </p:nvSpPr>
        <p:spPr>
          <a:xfrm>
            <a:off x="3477895" y="2517140"/>
            <a:ext cx="1983105" cy="1417320"/>
          </a:xfrm>
          <a:prstGeom prst="roundRect">
            <a:avLst>
              <a:gd name="adj" fmla="val 4223"/>
            </a:avLst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6" name="文本框 135"/>
          <p:cNvSpPr txBox="1"/>
          <p:nvPr/>
        </p:nvSpPr>
        <p:spPr>
          <a:xfrm>
            <a:off x="4997450" y="3243580"/>
            <a:ext cx="415925" cy="323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>
                <a:latin typeface="Arial" panose="020B0604020202090204" pitchFamily="34" charset="0"/>
                <a:ea typeface="黑体" panose="02010609060101010101" charset="-122"/>
                <a:cs typeface="Arial" panose="020B0604020202090204" pitchFamily="34" charset="0"/>
              </a:rPr>
              <a:t>low</a:t>
            </a:r>
            <a:endParaRPr lang="en-US" altLang="zh-CN" sz="1200" baseline="-25000">
              <a:latin typeface="Arial" panose="020B0604020202090204" pitchFamily="34" charset="0"/>
              <a:ea typeface="黑体" panose="02010609060101010101" charset="-122"/>
              <a:cs typeface="Arial" panose="020B0604020202090204" pitchFamily="34" charset="0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4994275" y="2679700"/>
            <a:ext cx="476885" cy="323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>
                <a:latin typeface="Arial" panose="020B0604020202090204" pitchFamily="34" charset="0"/>
                <a:ea typeface="黑体" panose="02010609060101010101" charset="-122"/>
                <a:cs typeface="Arial" panose="020B0604020202090204" pitchFamily="34" charset="0"/>
              </a:rPr>
              <a:t>high</a:t>
            </a:r>
            <a:endParaRPr lang="en-US" altLang="zh-CN" sz="1200" baseline="-25000">
              <a:latin typeface="Arial" panose="020B0604020202090204" pitchFamily="34" charset="0"/>
              <a:ea typeface="黑体" panose="02010609060101010101" charset="-122"/>
              <a:cs typeface="Arial" panose="020B0604020202090204" pitchFamily="34" charset="0"/>
            </a:endParaRPr>
          </a:p>
        </p:txBody>
      </p:sp>
      <p:sp>
        <p:nvSpPr>
          <p:cNvPr id="156" name="矩形 155"/>
          <p:cNvSpPr/>
          <p:nvPr/>
        </p:nvSpPr>
        <p:spPr>
          <a:xfrm>
            <a:off x="4976495" y="2754630"/>
            <a:ext cx="76200" cy="689610"/>
          </a:xfrm>
          <a:prstGeom prst="rect">
            <a:avLst/>
          </a:prstGeom>
          <a:gradFill>
            <a:gsLst>
              <a:gs pos="0">
                <a:srgbClr val="70AEF9"/>
              </a:gs>
              <a:gs pos="100000">
                <a:srgbClr val="FFFFFF"/>
              </a:gs>
            </a:gsLst>
            <a:lin ang="5400000" scaled="0"/>
          </a:gradFill>
          <a:ln w="63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55" name="直接连接符 354"/>
          <p:cNvCxnSpPr>
            <a:stCxn id="171" idx="2"/>
            <a:endCxn id="255" idx="2"/>
          </p:cNvCxnSpPr>
          <p:nvPr/>
        </p:nvCxnSpPr>
        <p:spPr>
          <a:xfrm>
            <a:off x="3847465" y="2970530"/>
            <a:ext cx="784860" cy="257810"/>
          </a:xfrm>
          <a:prstGeom prst="line">
            <a:avLst/>
          </a:prstGeom>
          <a:ln w="50800" cap="rnd">
            <a:solidFill>
              <a:srgbClr val="70AEF9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6" name="直接连接符 355"/>
          <p:cNvCxnSpPr>
            <a:stCxn id="206" idx="2"/>
            <a:endCxn id="238" idx="2"/>
          </p:cNvCxnSpPr>
          <p:nvPr/>
        </p:nvCxnSpPr>
        <p:spPr>
          <a:xfrm flipH="1">
            <a:off x="3847465" y="2970530"/>
            <a:ext cx="784860" cy="257810"/>
          </a:xfrm>
          <a:prstGeom prst="line">
            <a:avLst/>
          </a:prstGeom>
          <a:ln w="50800" cap="rnd">
            <a:solidFill>
              <a:srgbClr val="70AEF9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7" name="直接连接符 356"/>
          <p:cNvCxnSpPr>
            <a:stCxn id="255" idx="3"/>
            <a:endCxn id="238" idx="1"/>
          </p:cNvCxnSpPr>
          <p:nvPr/>
        </p:nvCxnSpPr>
        <p:spPr>
          <a:xfrm flipH="1">
            <a:off x="4117340" y="3336290"/>
            <a:ext cx="245110" cy="0"/>
          </a:xfrm>
          <a:prstGeom prst="line">
            <a:avLst/>
          </a:prstGeom>
          <a:ln w="50800" cap="rnd">
            <a:solidFill>
              <a:srgbClr val="70AEF9">
                <a:alpha val="42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2" name="文本框 121"/>
          <p:cNvSpPr txBox="1"/>
          <p:nvPr/>
        </p:nvSpPr>
        <p:spPr>
          <a:xfrm>
            <a:off x="5787390" y="3172460"/>
            <a:ext cx="501650" cy="278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1.0</a:t>
            </a:r>
            <a:endParaRPr lang="en-US" altLang="zh-CN" sz="120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grpSp>
        <p:nvGrpSpPr>
          <p:cNvPr id="454" name="组合 453"/>
          <p:cNvGrpSpPr/>
          <p:nvPr/>
        </p:nvGrpSpPr>
        <p:grpSpPr>
          <a:xfrm>
            <a:off x="5871845" y="2732405"/>
            <a:ext cx="2012315" cy="1326515"/>
            <a:chOff x="7829" y="3653"/>
            <a:chExt cx="3169" cy="2089"/>
          </a:xfrm>
        </p:grpSpPr>
        <p:cxnSp>
          <p:nvCxnSpPr>
            <p:cNvPr id="118" name="直接箭头连接符 117"/>
            <p:cNvCxnSpPr/>
            <p:nvPr/>
          </p:nvCxnSpPr>
          <p:spPr>
            <a:xfrm flipV="1">
              <a:off x="8320" y="5404"/>
              <a:ext cx="2437" cy="1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9" name="直接箭头连接符 118"/>
            <p:cNvCxnSpPr/>
            <p:nvPr/>
          </p:nvCxnSpPr>
          <p:spPr>
            <a:xfrm flipV="1">
              <a:off x="8327" y="3980"/>
              <a:ext cx="0" cy="144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0" name="文本框 119"/>
            <p:cNvSpPr txBox="1"/>
            <p:nvPr/>
          </p:nvSpPr>
          <p:spPr>
            <a:xfrm>
              <a:off x="10069" y="4965"/>
              <a:ext cx="929" cy="3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>
                  <a:latin typeface="Arial" panose="020B0604020202090204" pitchFamily="34" charset="0"/>
                  <a:ea typeface="微软雅黑" charset="-122"/>
                  <a:cs typeface="Arial" panose="020B0604020202090204" pitchFamily="34" charset="0"/>
                </a:rPr>
                <a:t>Time</a:t>
              </a:r>
              <a:endPara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endParaRPr>
            </a:p>
          </p:txBody>
        </p:sp>
        <p:sp>
          <p:nvSpPr>
            <p:cNvPr id="121" name="文本框 120"/>
            <p:cNvSpPr txBox="1"/>
            <p:nvPr/>
          </p:nvSpPr>
          <p:spPr>
            <a:xfrm>
              <a:off x="8171" y="4039"/>
              <a:ext cx="2496" cy="38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>
                  <a:latin typeface="Arial" panose="020B0604020202090204" pitchFamily="34" charset="0"/>
                  <a:ea typeface="微软雅黑" charset="-122"/>
                  <a:cs typeface="Arial" panose="020B0604020202090204" pitchFamily="34" charset="0"/>
                </a:rPr>
                <a:t>Remaining Fraction</a:t>
              </a:r>
              <a:endPara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endParaRPr>
            </a:p>
          </p:txBody>
        </p:sp>
        <p:sp>
          <p:nvSpPr>
            <p:cNvPr id="123" name="文本框 122"/>
            <p:cNvSpPr txBox="1"/>
            <p:nvPr/>
          </p:nvSpPr>
          <p:spPr>
            <a:xfrm>
              <a:off x="7829" y="5127"/>
              <a:ext cx="790" cy="61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>
                  <a:latin typeface="Arial" panose="020B0604020202090204" pitchFamily="34" charset="0"/>
                  <a:ea typeface="微软雅黑" charset="-122"/>
                  <a:cs typeface="Arial" panose="020B0604020202090204" pitchFamily="34" charset="0"/>
                </a:rPr>
                <a:t>0</a:t>
              </a:r>
              <a:endPara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endParaRPr>
            </a:p>
          </p:txBody>
        </p:sp>
        <p:cxnSp>
          <p:nvCxnSpPr>
            <p:cNvPr id="125" name="直接箭头连接符 124"/>
            <p:cNvCxnSpPr/>
            <p:nvPr/>
          </p:nvCxnSpPr>
          <p:spPr>
            <a:xfrm rot="16200000">
              <a:off x="8276" y="4924"/>
              <a:ext cx="964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6" name="直接箭头连接符 125"/>
            <p:cNvCxnSpPr/>
            <p:nvPr/>
          </p:nvCxnSpPr>
          <p:spPr>
            <a:xfrm rot="16200000">
              <a:off x="8707" y="4936"/>
              <a:ext cx="964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7" name="直接箭头连接符 126"/>
            <p:cNvCxnSpPr/>
            <p:nvPr/>
          </p:nvCxnSpPr>
          <p:spPr>
            <a:xfrm rot="16200000">
              <a:off x="9138" y="4936"/>
              <a:ext cx="964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8" name="直接箭头连接符 127"/>
            <p:cNvCxnSpPr/>
            <p:nvPr/>
          </p:nvCxnSpPr>
          <p:spPr>
            <a:xfrm rot="16200000">
              <a:off x="9569" y="4924"/>
              <a:ext cx="964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7" name="圆角矩形 396"/>
            <p:cNvSpPr/>
            <p:nvPr/>
          </p:nvSpPr>
          <p:spPr>
            <a:xfrm>
              <a:off x="7835" y="3653"/>
              <a:ext cx="3123" cy="1892"/>
            </a:xfrm>
            <a:prstGeom prst="roundRect">
              <a:avLst>
                <a:gd name="adj" fmla="val 4223"/>
              </a:avLst>
            </a:prstGeom>
            <a:noFill/>
            <a:ln w="952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00" name="直接连接符 399"/>
            <p:cNvCxnSpPr/>
            <p:nvPr/>
          </p:nvCxnSpPr>
          <p:spPr>
            <a:xfrm>
              <a:off x="8328" y="4563"/>
              <a:ext cx="427" cy="1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1" name="直接连接符 400"/>
            <p:cNvCxnSpPr/>
            <p:nvPr/>
          </p:nvCxnSpPr>
          <p:spPr>
            <a:xfrm>
              <a:off x="8755" y="4749"/>
              <a:ext cx="430" cy="2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2" name="直接连接符 401"/>
            <p:cNvCxnSpPr/>
            <p:nvPr/>
          </p:nvCxnSpPr>
          <p:spPr>
            <a:xfrm>
              <a:off x="9185" y="4962"/>
              <a:ext cx="4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3" name="矩形 402"/>
            <p:cNvSpPr/>
            <p:nvPr/>
          </p:nvSpPr>
          <p:spPr>
            <a:xfrm>
              <a:off x="9190" y="4965"/>
              <a:ext cx="435" cy="438"/>
            </a:xfrm>
            <a:prstGeom prst="rect">
              <a:avLst/>
            </a:prstGeom>
            <a:solidFill>
              <a:srgbClr val="FFB9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405" name="直接箭头连接符 404"/>
          <p:cNvCxnSpPr>
            <a:stCxn id="112" idx="1"/>
            <a:endCxn id="397" idx="3"/>
          </p:cNvCxnSpPr>
          <p:nvPr/>
        </p:nvCxnSpPr>
        <p:spPr>
          <a:xfrm flipH="1" flipV="1">
            <a:off x="7858760" y="3333115"/>
            <a:ext cx="655320" cy="635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6" name="直接箭头连接符 405"/>
          <p:cNvCxnSpPr/>
          <p:nvPr/>
        </p:nvCxnSpPr>
        <p:spPr>
          <a:xfrm flipV="1">
            <a:off x="6867525" y="2479040"/>
            <a:ext cx="1905" cy="253365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9" name="直接箭头连接符 408"/>
          <p:cNvCxnSpPr>
            <a:stCxn id="6" idx="2"/>
            <a:endCxn id="412" idx="0"/>
          </p:cNvCxnSpPr>
          <p:nvPr/>
        </p:nvCxnSpPr>
        <p:spPr>
          <a:xfrm>
            <a:off x="9410700" y="1928495"/>
            <a:ext cx="0" cy="331470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0" name="文本框 409"/>
          <p:cNvSpPr txBox="1"/>
          <p:nvPr/>
        </p:nvSpPr>
        <p:spPr>
          <a:xfrm>
            <a:off x="9333230" y="1956435"/>
            <a:ext cx="924560" cy="27559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 sz="1200"/>
              <a:t>Deploy</a:t>
            </a:r>
            <a:endParaRPr lang="en-US" altLang="zh-CN" sz="1200"/>
          </a:p>
        </p:txBody>
      </p:sp>
      <p:sp>
        <p:nvSpPr>
          <p:cNvPr id="412" name="圆角矩形 411"/>
          <p:cNvSpPr/>
          <p:nvPr/>
        </p:nvSpPr>
        <p:spPr>
          <a:xfrm>
            <a:off x="8105140" y="2259965"/>
            <a:ext cx="2611120" cy="1675130"/>
          </a:xfrm>
          <a:prstGeom prst="roundRect">
            <a:avLst>
              <a:gd name="adj" fmla="val 2763"/>
            </a:avLst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3" name="文本框 412"/>
          <p:cNvSpPr txBox="1"/>
          <p:nvPr/>
        </p:nvSpPr>
        <p:spPr>
          <a:xfrm>
            <a:off x="9920605" y="3187065"/>
            <a:ext cx="795655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i="1">
                <a:solidFill>
                  <a:srgbClr val="E95250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Pending</a:t>
            </a:r>
            <a:endParaRPr lang="en-US" altLang="zh-CN" sz="1200" i="1">
              <a:solidFill>
                <a:srgbClr val="E95250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pic>
        <p:nvPicPr>
          <p:cNvPr id="415" name="图片 414" descr="已满足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923780" y="3574415"/>
            <a:ext cx="179705" cy="179705"/>
          </a:xfrm>
          <a:prstGeom prst="rect">
            <a:avLst/>
          </a:prstGeom>
        </p:spPr>
      </p:pic>
      <p:pic>
        <p:nvPicPr>
          <p:cNvPr id="416" name="图片 415" descr="已满足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755505" y="2905125"/>
            <a:ext cx="179705" cy="179705"/>
          </a:xfrm>
          <a:prstGeom prst="rect">
            <a:avLst/>
          </a:prstGeom>
        </p:spPr>
      </p:pic>
      <p:cxnSp>
        <p:nvCxnSpPr>
          <p:cNvPr id="417" name="直接连接符 416"/>
          <p:cNvCxnSpPr>
            <a:stCxn id="109" idx="3"/>
          </p:cNvCxnSpPr>
          <p:nvPr/>
        </p:nvCxnSpPr>
        <p:spPr>
          <a:xfrm>
            <a:off x="9569450" y="2995930"/>
            <a:ext cx="180000" cy="1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8" name="直接连接符 417"/>
          <p:cNvCxnSpPr>
            <a:stCxn id="117" idx="3"/>
            <a:endCxn id="415" idx="1"/>
          </p:cNvCxnSpPr>
          <p:nvPr/>
        </p:nvCxnSpPr>
        <p:spPr>
          <a:xfrm>
            <a:off x="9744075" y="3663950"/>
            <a:ext cx="179705" cy="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9" name="直接连接符 418"/>
          <p:cNvCxnSpPr>
            <a:stCxn id="115" idx="3"/>
          </p:cNvCxnSpPr>
          <p:nvPr/>
        </p:nvCxnSpPr>
        <p:spPr>
          <a:xfrm>
            <a:off x="9796145" y="3333115"/>
            <a:ext cx="181610" cy="1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35" name="组合 434"/>
          <p:cNvGrpSpPr/>
          <p:nvPr/>
        </p:nvGrpSpPr>
        <p:grpSpPr>
          <a:xfrm>
            <a:off x="5877560" y="1448435"/>
            <a:ext cx="1993265" cy="1092835"/>
            <a:chOff x="3893" y="4148"/>
            <a:chExt cx="3139" cy="1721"/>
          </a:xfrm>
        </p:grpSpPr>
        <p:sp>
          <p:nvSpPr>
            <p:cNvPr id="436" name="矩形 435"/>
            <p:cNvSpPr/>
            <p:nvPr>
              <p:custDataLst>
                <p:tags r:id="rId19"/>
              </p:custDataLst>
            </p:nvPr>
          </p:nvSpPr>
          <p:spPr>
            <a:xfrm>
              <a:off x="4050" y="4588"/>
              <a:ext cx="850" cy="340"/>
            </a:xfrm>
            <a:prstGeom prst="rect">
              <a:avLst/>
            </a:prstGeom>
            <a:solidFill>
              <a:srgbClr val="7FBA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437" name="矩形 436"/>
            <p:cNvSpPr/>
            <p:nvPr>
              <p:custDataLst>
                <p:tags r:id="rId20"/>
              </p:custDataLst>
            </p:nvPr>
          </p:nvSpPr>
          <p:spPr>
            <a:xfrm>
              <a:off x="5286" y="4589"/>
              <a:ext cx="850" cy="340"/>
            </a:xfrm>
            <a:prstGeom prst="rect">
              <a:avLst/>
            </a:prstGeom>
            <a:solidFill>
              <a:srgbClr val="7FBA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438" name="矩形 437"/>
            <p:cNvSpPr/>
            <p:nvPr>
              <p:custDataLst>
                <p:tags r:id="rId21"/>
              </p:custDataLst>
            </p:nvPr>
          </p:nvSpPr>
          <p:spPr>
            <a:xfrm rot="10800000">
              <a:off x="4050" y="5334"/>
              <a:ext cx="850" cy="340"/>
            </a:xfrm>
            <a:prstGeom prst="rect">
              <a:avLst/>
            </a:prstGeom>
            <a:solidFill>
              <a:srgbClr val="7FBA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439" name="矩形 438"/>
            <p:cNvSpPr/>
            <p:nvPr>
              <p:custDataLst>
                <p:tags r:id="rId22"/>
              </p:custDataLst>
            </p:nvPr>
          </p:nvSpPr>
          <p:spPr>
            <a:xfrm rot="10800000">
              <a:off x="5286" y="5334"/>
              <a:ext cx="850" cy="340"/>
            </a:xfrm>
            <a:prstGeom prst="rect">
              <a:avLst/>
            </a:prstGeom>
            <a:solidFill>
              <a:srgbClr val="7FBA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440" name="文本框 439"/>
            <p:cNvSpPr txBox="1"/>
            <p:nvPr/>
          </p:nvSpPr>
          <p:spPr>
            <a:xfrm>
              <a:off x="3957" y="5294"/>
              <a:ext cx="1036" cy="3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>
                  <a:latin typeface="Arial" panose="020B0604020202090204" pitchFamily="34" charset="0"/>
                  <a:ea typeface="微软雅黑" charset="-122"/>
                  <a:cs typeface="Arial" panose="020B0604020202090204" pitchFamily="34" charset="0"/>
                </a:rPr>
                <a:t>Rack 3</a:t>
              </a:r>
              <a:endPara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endParaRPr>
            </a:p>
          </p:txBody>
        </p:sp>
        <p:sp>
          <p:nvSpPr>
            <p:cNvPr id="441" name="文本框 440"/>
            <p:cNvSpPr txBox="1"/>
            <p:nvPr/>
          </p:nvSpPr>
          <p:spPr>
            <a:xfrm>
              <a:off x="5193" y="4538"/>
              <a:ext cx="1036" cy="3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>
                  <a:latin typeface="Arial" panose="020B0604020202090204" pitchFamily="34" charset="0"/>
                  <a:ea typeface="微软雅黑" charset="-122"/>
                  <a:cs typeface="Arial" panose="020B0604020202090204" pitchFamily="34" charset="0"/>
                </a:rPr>
                <a:t>Rack 2</a:t>
              </a:r>
              <a:endPara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endParaRPr>
            </a:p>
          </p:txBody>
        </p:sp>
        <p:sp>
          <p:nvSpPr>
            <p:cNvPr id="442" name="文本框 441"/>
            <p:cNvSpPr txBox="1"/>
            <p:nvPr/>
          </p:nvSpPr>
          <p:spPr>
            <a:xfrm>
              <a:off x="3957" y="4538"/>
              <a:ext cx="1036" cy="3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>
                  <a:latin typeface="Arial" panose="020B0604020202090204" pitchFamily="34" charset="0"/>
                  <a:ea typeface="微软雅黑" charset="-122"/>
                  <a:cs typeface="Arial" panose="020B0604020202090204" pitchFamily="34" charset="0"/>
                </a:rPr>
                <a:t>Rack 1</a:t>
              </a:r>
              <a:endPara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endParaRPr>
            </a:p>
          </p:txBody>
        </p:sp>
        <p:sp>
          <p:nvSpPr>
            <p:cNvPr id="443" name="文本框 442"/>
            <p:cNvSpPr txBox="1"/>
            <p:nvPr/>
          </p:nvSpPr>
          <p:spPr>
            <a:xfrm>
              <a:off x="5193" y="5294"/>
              <a:ext cx="1036" cy="3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>
                  <a:latin typeface="Arial" panose="020B0604020202090204" pitchFamily="34" charset="0"/>
                  <a:ea typeface="微软雅黑" charset="-122"/>
                  <a:cs typeface="Arial" panose="020B0604020202090204" pitchFamily="34" charset="0"/>
                </a:rPr>
                <a:t>Rack 4</a:t>
              </a:r>
              <a:endPara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endParaRPr>
            </a:p>
          </p:txBody>
        </p:sp>
        <p:sp>
          <p:nvSpPr>
            <p:cNvPr id="444" name="文本框 443"/>
            <p:cNvSpPr txBox="1"/>
            <p:nvPr/>
          </p:nvSpPr>
          <p:spPr>
            <a:xfrm>
              <a:off x="4261" y="4148"/>
              <a:ext cx="2388" cy="48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>
                  <a:latin typeface="Arial" panose="020B0604020202090204" pitchFamily="34" charset="0"/>
                  <a:ea typeface="微软雅黑" charset="-122"/>
                  <a:cs typeface="Arial" panose="020B0604020202090204" pitchFamily="34" charset="0"/>
                  <a:sym typeface="+mn-ea"/>
                </a:rPr>
                <a:t>Runtime Pressure</a:t>
              </a:r>
              <a:endParaRPr lang="zh-CN" altLang="en-US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endParaRPr>
            </a:p>
          </p:txBody>
        </p:sp>
        <p:sp>
          <p:nvSpPr>
            <p:cNvPr id="445" name="圆角矩形 444"/>
            <p:cNvSpPr/>
            <p:nvPr/>
          </p:nvSpPr>
          <p:spPr>
            <a:xfrm>
              <a:off x="3893" y="4176"/>
              <a:ext cx="3123" cy="1595"/>
            </a:xfrm>
            <a:prstGeom prst="roundRect">
              <a:avLst>
                <a:gd name="adj" fmla="val 4223"/>
              </a:avLst>
            </a:prstGeom>
            <a:noFill/>
            <a:ln w="952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6" name="文本框 445"/>
            <p:cNvSpPr txBox="1"/>
            <p:nvPr/>
          </p:nvSpPr>
          <p:spPr>
            <a:xfrm>
              <a:off x="6286" y="5359"/>
              <a:ext cx="655" cy="5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>
                  <a:latin typeface="Arial" panose="020B0604020202090204" pitchFamily="34" charset="0"/>
                  <a:ea typeface="黑体" panose="02010609060101010101" charset="-122"/>
                  <a:cs typeface="Arial" panose="020B0604020202090204" pitchFamily="34" charset="0"/>
                </a:rPr>
                <a:t>low</a:t>
              </a:r>
              <a:endParaRPr lang="en-US" altLang="zh-CN" sz="1200" baseline="-25000">
                <a:latin typeface="Arial" panose="020B0604020202090204" pitchFamily="34" charset="0"/>
                <a:ea typeface="黑体" panose="02010609060101010101" charset="-122"/>
                <a:cs typeface="Arial" panose="020B0604020202090204" pitchFamily="34" charset="0"/>
              </a:endParaRPr>
            </a:p>
          </p:txBody>
        </p:sp>
        <p:sp>
          <p:nvSpPr>
            <p:cNvPr id="447" name="文本框 446"/>
            <p:cNvSpPr txBox="1"/>
            <p:nvPr/>
          </p:nvSpPr>
          <p:spPr>
            <a:xfrm>
              <a:off x="6281" y="4471"/>
              <a:ext cx="751" cy="5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>
                  <a:latin typeface="Arial" panose="020B0604020202090204" pitchFamily="34" charset="0"/>
                  <a:ea typeface="黑体" panose="02010609060101010101" charset="-122"/>
                  <a:cs typeface="Arial" panose="020B0604020202090204" pitchFamily="34" charset="0"/>
                </a:rPr>
                <a:t>high</a:t>
              </a:r>
              <a:endParaRPr lang="en-US" altLang="zh-CN" sz="1200" baseline="-25000">
                <a:latin typeface="Arial" panose="020B0604020202090204" pitchFamily="34" charset="0"/>
                <a:ea typeface="黑体" panose="02010609060101010101" charset="-122"/>
                <a:cs typeface="Arial" panose="020B0604020202090204" pitchFamily="34" charset="0"/>
              </a:endParaRPr>
            </a:p>
          </p:txBody>
        </p:sp>
        <p:sp>
          <p:nvSpPr>
            <p:cNvPr id="448" name="矩形 447"/>
            <p:cNvSpPr/>
            <p:nvPr/>
          </p:nvSpPr>
          <p:spPr>
            <a:xfrm>
              <a:off x="6253" y="4589"/>
              <a:ext cx="120" cy="1086"/>
            </a:xfrm>
            <a:prstGeom prst="rect">
              <a:avLst/>
            </a:prstGeom>
            <a:gradFill>
              <a:gsLst>
                <a:gs pos="0">
                  <a:srgbClr val="7FBA00"/>
                </a:gs>
                <a:gs pos="100000">
                  <a:srgbClr val="FFFFFF"/>
                </a:gs>
              </a:gsLst>
              <a:lin ang="5400000" scaled="0"/>
            </a:gradFill>
            <a:ln w="6350" cmpd="sng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49" name="直接连接符 448"/>
            <p:cNvCxnSpPr>
              <a:stCxn id="442" idx="2"/>
              <a:endCxn id="439" idx="2"/>
            </p:cNvCxnSpPr>
            <p:nvPr/>
          </p:nvCxnSpPr>
          <p:spPr>
            <a:xfrm>
              <a:off x="4475" y="4929"/>
              <a:ext cx="1236" cy="406"/>
            </a:xfrm>
            <a:prstGeom prst="line">
              <a:avLst/>
            </a:prstGeom>
            <a:ln w="50800" cap="rnd">
              <a:solidFill>
                <a:srgbClr val="7FBA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0" name="直接连接符 449"/>
            <p:cNvCxnSpPr>
              <a:stCxn id="437" idx="2"/>
              <a:endCxn id="438" idx="2"/>
            </p:cNvCxnSpPr>
            <p:nvPr/>
          </p:nvCxnSpPr>
          <p:spPr>
            <a:xfrm flipH="1">
              <a:off x="4475" y="4929"/>
              <a:ext cx="1236" cy="406"/>
            </a:xfrm>
            <a:prstGeom prst="line">
              <a:avLst/>
            </a:prstGeom>
            <a:ln w="50800" cap="rnd">
              <a:solidFill>
                <a:srgbClr val="7FBA00">
                  <a:alpha val="71000"/>
                </a:srgb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1" name="直接连接符 450"/>
            <p:cNvCxnSpPr>
              <a:stCxn id="439" idx="3"/>
              <a:endCxn id="438" idx="1"/>
            </p:cNvCxnSpPr>
            <p:nvPr/>
          </p:nvCxnSpPr>
          <p:spPr>
            <a:xfrm flipH="1">
              <a:off x="4900" y="5505"/>
              <a:ext cx="386" cy="0"/>
            </a:xfrm>
            <a:prstGeom prst="line">
              <a:avLst/>
            </a:prstGeom>
            <a:ln w="50800" cap="rnd">
              <a:solidFill>
                <a:srgbClr val="7FBA00">
                  <a:alpha val="42000"/>
                </a:srgb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2" name="直接连接符 451"/>
            <p:cNvCxnSpPr>
              <a:stCxn id="443" idx="0"/>
              <a:endCxn id="441" idx="2"/>
            </p:cNvCxnSpPr>
            <p:nvPr/>
          </p:nvCxnSpPr>
          <p:spPr>
            <a:xfrm flipV="1">
              <a:off x="5711" y="4929"/>
              <a:ext cx="0" cy="365"/>
            </a:xfrm>
            <a:prstGeom prst="line">
              <a:avLst/>
            </a:prstGeom>
            <a:ln w="50800" cap="rnd">
              <a:solidFill>
                <a:srgbClr val="7FBA00">
                  <a:alpha val="11000"/>
                </a:srgb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455" name="直接连接符 454"/>
          <p:cNvCxnSpPr/>
          <p:nvPr/>
        </p:nvCxnSpPr>
        <p:spPr>
          <a:xfrm flipV="1">
            <a:off x="3847465" y="2969895"/>
            <a:ext cx="0" cy="257810"/>
          </a:xfrm>
          <a:prstGeom prst="line">
            <a:avLst/>
          </a:prstGeom>
          <a:ln w="50800" cap="rnd">
            <a:solidFill>
              <a:srgbClr val="70AEF9">
                <a:alpha val="69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6" name="直接连接符 455"/>
          <p:cNvCxnSpPr/>
          <p:nvPr/>
        </p:nvCxnSpPr>
        <p:spPr>
          <a:xfrm flipH="1" flipV="1">
            <a:off x="4117340" y="2861945"/>
            <a:ext cx="245110" cy="635"/>
          </a:xfrm>
          <a:prstGeom prst="line">
            <a:avLst/>
          </a:prstGeom>
          <a:ln w="50800" cap="rnd">
            <a:solidFill>
              <a:srgbClr val="70AEF9">
                <a:alpha val="23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8" name="文本框 457"/>
          <p:cNvSpPr txBox="1"/>
          <p:nvPr/>
        </p:nvSpPr>
        <p:spPr>
          <a:xfrm>
            <a:off x="1890845" y="3986530"/>
            <a:ext cx="563880" cy="252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(a)</a:t>
            </a:r>
            <a:endParaRPr lang="en-US" altLang="zh-CN" sz="1400"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</p:txBody>
      </p:sp>
      <p:sp>
        <p:nvSpPr>
          <p:cNvPr id="459" name="文本框 458"/>
          <p:cNvSpPr txBox="1"/>
          <p:nvPr/>
        </p:nvSpPr>
        <p:spPr>
          <a:xfrm>
            <a:off x="4094798" y="3986530"/>
            <a:ext cx="759460" cy="252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(b)</a:t>
            </a:r>
            <a:endParaRPr lang="en-US" altLang="zh-CN" sz="1400"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</p:txBody>
      </p:sp>
      <p:sp>
        <p:nvSpPr>
          <p:cNvPr id="460" name="文本框 459"/>
          <p:cNvSpPr txBox="1"/>
          <p:nvPr/>
        </p:nvSpPr>
        <p:spPr>
          <a:xfrm>
            <a:off x="8015605" y="3985895"/>
            <a:ext cx="659765" cy="253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(c)</a:t>
            </a:r>
            <a:endParaRPr lang="en-US" altLang="zh-CN" sz="1400"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</p:txBody>
      </p:sp>
      <p:pic>
        <p:nvPicPr>
          <p:cNvPr id="461" name="图片 460" descr="calH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17880000">
            <a:off x="2988310" y="1971040"/>
            <a:ext cx="152400" cy="133350"/>
          </a:xfrm>
          <a:prstGeom prst="rect">
            <a:avLst/>
          </a:prstGeom>
        </p:spPr>
      </p:pic>
      <p:sp>
        <p:nvSpPr>
          <p:cNvPr id="462" name="圆角矩形 461"/>
          <p:cNvSpPr/>
          <p:nvPr/>
        </p:nvSpPr>
        <p:spPr>
          <a:xfrm>
            <a:off x="419463" y="727075"/>
            <a:ext cx="720000" cy="3312160"/>
          </a:xfrm>
          <a:prstGeom prst="roundRect">
            <a:avLst>
              <a:gd name="adj" fmla="val 7456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3" name="圆角矩形 462"/>
          <p:cNvSpPr/>
          <p:nvPr/>
        </p:nvSpPr>
        <p:spPr>
          <a:xfrm>
            <a:off x="545465" y="907415"/>
            <a:ext cx="467995" cy="179705"/>
          </a:xfrm>
          <a:prstGeom prst="roundRect">
            <a:avLst/>
          </a:prstGeom>
          <a:solidFill>
            <a:srgbClr val="60A5FA">
              <a:alpha val="9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4" name="圆角矩形 463"/>
          <p:cNvSpPr/>
          <p:nvPr>
            <p:custDataLst>
              <p:tags r:id="rId25"/>
            </p:custDataLst>
          </p:nvPr>
        </p:nvSpPr>
        <p:spPr>
          <a:xfrm>
            <a:off x="671463" y="943610"/>
            <a:ext cx="216000" cy="107950"/>
          </a:xfrm>
          <a:prstGeom prst="roundRect">
            <a:avLst/>
          </a:prstGeom>
          <a:solidFill>
            <a:srgbClr val="FFCB40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465" name="文本框 464"/>
          <p:cNvSpPr txBox="1"/>
          <p:nvPr/>
        </p:nvSpPr>
        <p:spPr>
          <a:xfrm>
            <a:off x="617463" y="836295"/>
            <a:ext cx="324000" cy="324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 i="1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s</a:t>
            </a:r>
            <a:r>
              <a:rPr lang="en-US" altLang="zh-CN" sz="1200" b="1" i="1" baseline="-25000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i</a:t>
            </a:r>
            <a:endParaRPr lang="en-US" altLang="zh-CN" sz="1200" b="1" i="1" baseline="-25000"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</p:txBody>
      </p:sp>
      <p:sp>
        <p:nvSpPr>
          <p:cNvPr id="466" name="文本框 465"/>
          <p:cNvSpPr txBox="1"/>
          <p:nvPr/>
        </p:nvSpPr>
        <p:spPr>
          <a:xfrm>
            <a:off x="309880" y="1091565"/>
            <a:ext cx="939165" cy="391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Source </a:t>
            </a:r>
            <a:r>
              <a:rPr lang="en-US" altLang="zh-CN" sz="1200" i="1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i</a:t>
            </a:r>
            <a:endParaRPr lang="en-US" altLang="zh-CN" sz="1200" i="1"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</p:txBody>
      </p:sp>
      <p:grpSp>
        <p:nvGrpSpPr>
          <p:cNvPr id="477" name="组合 476"/>
          <p:cNvGrpSpPr/>
          <p:nvPr/>
        </p:nvGrpSpPr>
        <p:grpSpPr>
          <a:xfrm>
            <a:off x="617538" y="1656080"/>
            <a:ext cx="323850" cy="323850"/>
            <a:chOff x="16626" y="2076"/>
            <a:chExt cx="510" cy="510"/>
          </a:xfrm>
        </p:grpSpPr>
        <p:sp>
          <p:nvSpPr>
            <p:cNvPr id="467" name="矩形 466"/>
            <p:cNvSpPr/>
            <p:nvPr>
              <p:custDataLst>
                <p:tags r:id="rId26"/>
              </p:custDataLst>
            </p:nvPr>
          </p:nvSpPr>
          <p:spPr>
            <a:xfrm>
              <a:off x="16678" y="2133"/>
              <a:ext cx="397" cy="397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468" name="文本框 467"/>
            <p:cNvSpPr txBox="1"/>
            <p:nvPr/>
          </p:nvSpPr>
          <p:spPr>
            <a:xfrm>
              <a:off x="16626" y="2076"/>
              <a:ext cx="510" cy="5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 b="1" i="1">
                  <a:latin typeface="Times New Roman" panose="02020503050405090304" charset="0"/>
                  <a:ea typeface="微软雅黑" charset="-122"/>
                  <a:cs typeface="Times New Roman" panose="02020503050405090304" charset="0"/>
                </a:rPr>
                <a:t>e</a:t>
              </a:r>
              <a:r>
                <a:rPr lang="en-US" altLang="zh-CN" sz="1200" b="1" i="1" baseline="-25000">
                  <a:latin typeface="Times New Roman" panose="02020503050405090304" charset="0"/>
                  <a:ea typeface="微软雅黑" charset="-122"/>
                  <a:cs typeface="Times New Roman" panose="02020503050405090304" charset="0"/>
                </a:rPr>
                <a:t>i</a:t>
              </a:r>
              <a:endParaRPr lang="en-US" altLang="zh-CN" sz="1200" b="1" i="1" baseline="-25000">
                <a:latin typeface="Times New Roman" panose="02020503050405090304" charset="0"/>
                <a:ea typeface="微软雅黑" charset="-122"/>
                <a:cs typeface="Times New Roman" panose="02020503050405090304" charset="0"/>
              </a:endParaRPr>
            </a:p>
          </p:txBody>
        </p:sp>
      </p:grpSp>
      <p:grpSp>
        <p:nvGrpSpPr>
          <p:cNvPr id="470" name="组合 469"/>
          <p:cNvGrpSpPr/>
          <p:nvPr/>
        </p:nvGrpSpPr>
        <p:grpSpPr>
          <a:xfrm rot="0">
            <a:off x="635318" y="2383155"/>
            <a:ext cx="288290" cy="288290"/>
            <a:chOff x="6134" y="13942"/>
            <a:chExt cx="454" cy="454"/>
          </a:xfrm>
        </p:grpSpPr>
        <p:cxnSp>
          <p:nvCxnSpPr>
            <p:cNvPr id="471" name="直接连接符 470"/>
            <p:cNvCxnSpPr/>
            <p:nvPr/>
          </p:nvCxnSpPr>
          <p:spPr>
            <a:xfrm rot="16200000">
              <a:off x="6361" y="14169"/>
              <a:ext cx="454" cy="0"/>
            </a:xfrm>
            <a:prstGeom prst="line">
              <a:avLst/>
            </a:prstGeom>
            <a:ln>
              <a:solidFill>
                <a:srgbClr val="60A5FA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72" name="直接连接符 471"/>
            <p:cNvCxnSpPr/>
            <p:nvPr/>
          </p:nvCxnSpPr>
          <p:spPr>
            <a:xfrm rot="16200000">
              <a:off x="5907" y="14169"/>
              <a:ext cx="454" cy="0"/>
            </a:xfrm>
            <a:prstGeom prst="line">
              <a:avLst/>
            </a:prstGeom>
            <a:ln>
              <a:solidFill>
                <a:srgbClr val="60A5FA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73" name="直接连接符 472"/>
            <p:cNvCxnSpPr/>
            <p:nvPr/>
          </p:nvCxnSpPr>
          <p:spPr>
            <a:xfrm rot="10800000">
              <a:off x="6134" y="14396"/>
              <a:ext cx="454" cy="0"/>
            </a:xfrm>
            <a:prstGeom prst="line">
              <a:avLst/>
            </a:prstGeom>
            <a:ln>
              <a:solidFill>
                <a:srgbClr val="60A5FA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74" name="直接连接符 473"/>
            <p:cNvCxnSpPr/>
            <p:nvPr/>
          </p:nvCxnSpPr>
          <p:spPr>
            <a:xfrm flipV="1">
              <a:off x="6134" y="13944"/>
              <a:ext cx="453" cy="451"/>
            </a:xfrm>
            <a:prstGeom prst="line">
              <a:avLst/>
            </a:prstGeom>
            <a:ln>
              <a:solidFill>
                <a:srgbClr val="60A5FA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76" name="矩形 475"/>
          <p:cNvSpPr/>
          <p:nvPr/>
        </p:nvSpPr>
        <p:spPr>
          <a:xfrm>
            <a:off x="641350" y="3202305"/>
            <a:ext cx="276225" cy="278130"/>
          </a:xfrm>
          <a:prstGeom prst="rect">
            <a:avLst/>
          </a:prstGeom>
          <a:solidFill>
            <a:srgbClr val="FFB900">
              <a:alpha val="50000"/>
            </a:srgbClr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8" name="文本框 477"/>
          <p:cNvSpPr txBox="1"/>
          <p:nvPr/>
        </p:nvSpPr>
        <p:spPr>
          <a:xfrm>
            <a:off x="309880" y="1950085"/>
            <a:ext cx="939165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Expert </a:t>
            </a:r>
            <a:r>
              <a:rPr lang="en-US" altLang="zh-CN" sz="1200" i="1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i</a:t>
            </a:r>
            <a:endParaRPr lang="en-US" altLang="zh-CN" sz="1200" i="1"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</p:txBody>
      </p:sp>
      <p:sp>
        <p:nvSpPr>
          <p:cNvPr id="479" name="文本框 478"/>
          <p:cNvSpPr txBox="1"/>
          <p:nvPr/>
        </p:nvSpPr>
        <p:spPr>
          <a:xfrm>
            <a:off x="365443" y="2742565"/>
            <a:ext cx="8280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Topology</a:t>
            </a:r>
            <a:endParaRPr lang="en-US" altLang="zh-CN" sz="1200"/>
          </a:p>
        </p:txBody>
      </p:sp>
      <p:sp>
        <p:nvSpPr>
          <p:cNvPr id="480" name="文本框 479"/>
          <p:cNvSpPr txBox="1"/>
          <p:nvPr/>
        </p:nvSpPr>
        <p:spPr>
          <a:xfrm>
            <a:off x="200660" y="3487420"/>
            <a:ext cx="11576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Debt</a:t>
            </a:r>
            <a:endParaRPr lang="en-US" altLang="zh-CN" sz="1200"/>
          </a:p>
          <a:p>
            <a:pPr algn="ctr"/>
            <a:r>
              <a: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Increm</a:t>
            </a:r>
            <a:r>
              <a:rPr lang="en-US" altLang="zh-CN" sz="1200"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ent</a:t>
            </a:r>
            <a:endParaRPr lang="en-US" altLang="zh-CN" sz="120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481" name="圆角矩形 480"/>
          <p:cNvSpPr/>
          <p:nvPr/>
        </p:nvSpPr>
        <p:spPr>
          <a:xfrm>
            <a:off x="9997440" y="3209925"/>
            <a:ext cx="631825" cy="252095"/>
          </a:xfrm>
          <a:prstGeom prst="roundRect">
            <a:avLst>
              <a:gd name="adj" fmla="val 10831"/>
            </a:avLst>
          </a:prstGeom>
          <a:noFill/>
          <a:ln>
            <a:solidFill>
              <a:srgbClr val="E9525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190875" y="3945255"/>
            <a:ext cx="219075" cy="219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3175000" y="3205480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弧形 39"/>
          <p:cNvSpPr/>
          <p:nvPr/>
        </p:nvSpPr>
        <p:spPr>
          <a:xfrm rot="5400000">
            <a:off x="3011582" y="3039428"/>
            <a:ext cx="252000" cy="252000"/>
          </a:xfrm>
          <a:prstGeom prst="arc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3178175" y="1542415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弧形 41"/>
          <p:cNvSpPr/>
          <p:nvPr/>
        </p:nvSpPr>
        <p:spPr>
          <a:xfrm rot="16200000">
            <a:off x="3261772" y="1618933"/>
            <a:ext cx="252000" cy="252000"/>
          </a:xfrm>
          <a:prstGeom prst="arc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5563870" y="3117850"/>
            <a:ext cx="21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弧形 43"/>
          <p:cNvSpPr/>
          <p:nvPr/>
        </p:nvSpPr>
        <p:spPr>
          <a:xfrm rot="5400000">
            <a:off x="5418867" y="2973388"/>
            <a:ext cx="252000" cy="252000"/>
          </a:xfrm>
          <a:prstGeom prst="arc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5561965" y="914400"/>
            <a:ext cx="21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弧形 45"/>
          <p:cNvSpPr/>
          <p:nvPr/>
        </p:nvSpPr>
        <p:spPr>
          <a:xfrm rot="16200000">
            <a:off x="5670327" y="1024573"/>
            <a:ext cx="252000" cy="252000"/>
          </a:xfrm>
          <a:prstGeom prst="arc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8542020" y="1524635"/>
            <a:ext cx="179705" cy="4445"/>
          </a:xfrm>
          <a:prstGeom prst="straightConnector1">
            <a:avLst/>
          </a:prstGeom>
          <a:ln w="19050">
            <a:solidFill>
              <a:srgbClr val="60A5F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9100820" y="1524635"/>
            <a:ext cx="179705" cy="4445"/>
          </a:xfrm>
          <a:prstGeom prst="straightConnector1">
            <a:avLst/>
          </a:prstGeom>
          <a:ln w="19050">
            <a:solidFill>
              <a:srgbClr val="60A5F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9659620" y="1524635"/>
            <a:ext cx="179705" cy="4445"/>
          </a:xfrm>
          <a:prstGeom prst="straightConnector1">
            <a:avLst/>
          </a:prstGeom>
          <a:ln w="19050">
            <a:solidFill>
              <a:srgbClr val="60A5F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V="1">
            <a:off x="10089515" y="1524635"/>
            <a:ext cx="179705" cy="4445"/>
          </a:xfrm>
          <a:prstGeom prst="straightConnector1">
            <a:avLst/>
          </a:prstGeom>
          <a:ln w="19050">
            <a:solidFill>
              <a:srgbClr val="60A5F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 descr="repeat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304020" y="1619250"/>
            <a:ext cx="216000" cy="216000"/>
          </a:xfrm>
          <a:prstGeom prst="rect">
            <a:avLst/>
          </a:prstGeom>
        </p:spPr>
      </p:pic>
      <p:sp>
        <p:nvSpPr>
          <p:cNvPr id="3" name="圆角矩形标注 2"/>
          <p:cNvSpPr/>
          <p:nvPr/>
        </p:nvSpPr>
        <p:spPr>
          <a:xfrm>
            <a:off x="4025265" y="3515995"/>
            <a:ext cx="972000" cy="396240"/>
          </a:xfrm>
          <a:prstGeom prst="wedgeRoundRectCallout">
            <a:avLst>
              <a:gd name="adj1" fmla="val -29878"/>
              <a:gd name="adj2" fmla="val -83333"/>
              <a:gd name="adj3" fmla="val 16667"/>
            </a:avLst>
          </a:prstGeom>
          <a:solidFill>
            <a:srgbClr val="FFF9F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i="1">
                <a:solidFill>
                  <a:schemeClr val="tx1"/>
                </a:solidFill>
              </a:rPr>
              <a:t>Weighted Edges</a:t>
            </a:r>
            <a:endParaRPr lang="en-US" altLang="zh-CN" sz="1200" i="1">
              <a:solidFill>
                <a:schemeClr val="tx1"/>
              </a:solidFill>
            </a:endParaRPr>
          </a:p>
        </p:txBody>
      </p:sp>
    </p:spTree>
    <p:custDataLst>
      <p:tags r:id="rId29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64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65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66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67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68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69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70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71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72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73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74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75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76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77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78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79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80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81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82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83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84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85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86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87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88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89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90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91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92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93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94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95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96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97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98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99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00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01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02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03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04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05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06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07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08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09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10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11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12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13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14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15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16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17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18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21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22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23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24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25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26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27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28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29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30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31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32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33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34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35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36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37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38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39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40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41.xml><?xml version="1.0" encoding="utf-8"?>
<p:tagLst xmlns:p="http://schemas.openxmlformats.org/presentationml/2006/main">
  <p:tag name="KSO_WM_DIAGRAM_VIRTUALLY_FRAME" val="{&quot;height&quot;:407.65,&quot;left&quot;:214,&quot;top&quot;:93.9,&quot;width&quot;:686.9}"/>
</p:tagLst>
</file>

<file path=ppt/tags/tag14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776</Words>
  <Application>WPS 演示</Application>
  <PresentationFormat>宽屏</PresentationFormat>
  <Paragraphs>225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苹方-简</vt:lpstr>
      <vt:lpstr>微软雅黑</vt:lpstr>
      <vt:lpstr>方正雅意黑 GB18030L2</vt:lpstr>
      <vt:lpstr>宋体</vt:lpstr>
      <vt:lpstr>Arial Unicode MS</vt:lpstr>
      <vt:lpstr>汉仪书宋二KW</vt:lpstr>
      <vt:lpstr>Times New Roman</vt:lpstr>
      <vt:lpstr>黑体</vt:lpstr>
      <vt:lpstr>汉仪中黑KW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Kaleidoscope</cp:lastModifiedBy>
  <cp:revision>164</cp:revision>
  <dcterms:created xsi:type="dcterms:W3CDTF">2026-10-28T11:49:08Z</dcterms:created>
  <dcterms:modified xsi:type="dcterms:W3CDTF">2026-10-28T11:49:08Z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2052-12.1.26055.26055</vt:lpwstr>
  </property>
  <property fmtid="{D5CDD505-2E9C-101B-9397-08002B2CF9AE}" pid="3" name="ICV">
    <vt:lpwstr>2413CBC223E630F3FAE0E16ACC6E9C2A_41</vt:lpwstr>
  </property>
</Properties>
</file>